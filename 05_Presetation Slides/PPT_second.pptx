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D6FA5CA-3BA7-48AB-8108-7B984188D8BE}">
  <a:tblStyle styleId="{AD6FA5CA-3BA7-48AB-8108-7B984188D8B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63912562d_2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d63912562d_2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d63912562d_2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d63912562d_2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d63912562d_2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d63912562d_2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d63912562d_3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d63912562d_3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d63912562d_2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d63912562d_2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d63912562d_2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d63912562d_2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d63912562d_3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d63912562d_3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d63912562d_3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d63912562d_3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d63912562d_3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3d63912562d_3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d63912562d_3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3d63912562d_3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d63912562d_3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3d63912562d_3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12.png"/><Relationship Id="rId7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image" Target="../media/image18.png"/><Relationship Id="rId7" Type="http://schemas.openxmlformats.org/officeDocument/2006/relationships/image" Target="../media/image9.png"/><Relationship Id="rId8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7.png"/><Relationship Id="rId4" Type="http://schemas.openxmlformats.org/officeDocument/2006/relationships/image" Target="../media/image10.png"/><Relationship Id="rId5" Type="http://schemas.openxmlformats.org/officeDocument/2006/relationships/image" Target="../media/image4.png"/><Relationship Id="rId6" Type="http://schemas.openxmlformats.org/officeDocument/2006/relationships/image" Target="../media/image22.png"/><Relationship Id="rId7" Type="http://schemas.openxmlformats.org/officeDocument/2006/relationships/image" Target="../media/image14.png"/><Relationship Id="rId8" Type="http://schemas.openxmlformats.org/officeDocument/2006/relationships/image" Target="../media/image1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16.png"/><Relationship Id="rId5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0.png"/><Relationship Id="rId4" Type="http://schemas.openxmlformats.org/officeDocument/2006/relationships/image" Target="../media/image4.png"/><Relationship Id="rId5" Type="http://schemas.openxmlformats.org/officeDocument/2006/relationships/image" Target="../media/image2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15.png"/><Relationship Id="rId5" Type="http://schemas.openxmlformats.org/officeDocument/2006/relationships/image" Target="../media/image17.png"/><Relationship Id="rId6" Type="http://schemas.openxmlformats.org/officeDocument/2006/relationships/image" Target="../media/image25.png"/><Relationship Id="rId7" Type="http://schemas.openxmlformats.org/officeDocument/2006/relationships/image" Target="../media/image21.png"/><Relationship Id="rId8" Type="http://schemas.openxmlformats.org/officeDocument/2006/relationships/image" Target="../media/image2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2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2401475" y="2958975"/>
            <a:ext cx="4341000" cy="1075500"/>
          </a:xfrm>
          <a:prstGeom prst="roundRect">
            <a:avLst>
              <a:gd fmla="val 16667" name="adj"/>
            </a:avLst>
          </a:prstGeom>
          <a:solidFill>
            <a:srgbClr val="0000FF"/>
          </a:solidFill>
          <a:ln cap="flat" cmpd="sng" w="9525">
            <a:solidFill>
              <a:srgbClr val="1027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/>
          <p:nvPr/>
        </p:nvSpPr>
        <p:spPr>
          <a:xfrm>
            <a:off x="2504100" y="4848975"/>
            <a:ext cx="4177800" cy="279300"/>
          </a:xfrm>
          <a:prstGeom prst="rect">
            <a:avLst/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8598600" y="4848975"/>
            <a:ext cx="7971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1/12</a:t>
            </a:r>
            <a:endParaRPr sz="15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2519100" y="4788525"/>
            <a:ext cx="4105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CHL5222H: </a:t>
            </a:r>
            <a:r>
              <a:rPr lang="zh-CN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Laboratory in Statistical Design and Analysis</a:t>
            </a:r>
            <a:endParaRPr sz="12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8" name="Google Shape;58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4300" y="4421075"/>
            <a:ext cx="2139700" cy="4444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3"/>
          <p:cNvSpPr txBox="1"/>
          <p:nvPr/>
        </p:nvSpPr>
        <p:spPr>
          <a:xfrm>
            <a:off x="6053100" y="484897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zh-CN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2026-04-22</a:t>
            </a:r>
            <a:endParaRPr sz="12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" name="Google Shape;60;p13"/>
          <p:cNvSpPr/>
          <p:nvPr/>
        </p:nvSpPr>
        <p:spPr>
          <a:xfrm>
            <a:off x="6639900" y="4848975"/>
            <a:ext cx="2504100" cy="279300"/>
          </a:xfrm>
          <a:prstGeom prst="rect">
            <a:avLst/>
          </a:prstGeom>
          <a:solidFill>
            <a:srgbClr val="1C458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3"/>
          <p:cNvSpPr/>
          <p:nvPr/>
        </p:nvSpPr>
        <p:spPr>
          <a:xfrm>
            <a:off x="0" y="4848975"/>
            <a:ext cx="2504100" cy="279300"/>
          </a:xfrm>
          <a:prstGeom prst="rect">
            <a:avLst/>
          </a:prstGeom>
          <a:solidFill>
            <a:srgbClr val="0E68B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3"/>
          <p:cNvSpPr txBox="1"/>
          <p:nvPr/>
        </p:nvSpPr>
        <p:spPr>
          <a:xfrm>
            <a:off x="0" y="4803975"/>
            <a:ext cx="2504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zh-CN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Instructor: </a:t>
            </a:r>
            <a:r>
              <a:rPr lang="zh-CN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Tony Panzarella</a:t>
            </a:r>
            <a:endParaRPr sz="12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" name="Google Shape;63;p13"/>
          <p:cNvSpPr txBox="1"/>
          <p:nvPr/>
        </p:nvSpPr>
        <p:spPr>
          <a:xfrm>
            <a:off x="6639900" y="4803975"/>
            <a:ext cx="2504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zh-CN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2026-04-23</a:t>
            </a:r>
            <a:endParaRPr sz="12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" name="Google Shape;64;p13"/>
          <p:cNvSpPr txBox="1"/>
          <p:nvPr/>
        </p:nvSpPr>
        <p:spPr>
          <a:xfrm>
            <a:off x="8664050" y="4766475"/>
            <a:ext cx="844500" cy="4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1/12</a:t>
            </a:r>
            <a:endParaRPr sz="15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" name="Google Shape;65;p13"/>
          <p:cNvSpPr/>
          <p:nvPr/>
        </p:nvSpPr>
        <p:spPr>
          <a:xfrm>
            <a:off x="244225" y="640875"/>
            <a:ext cx="8655600" cy="2064900"/>
          </a:xfrm>
          <a:prstGeom prst="roundRect">
            <a:avLst>
              <a:gd fmla="val 16667" name="adj"/>
            </a:avLst>
          </a:prstGeom>
          <a:solidFill>
            <a:srgbClr val="0E68B3"/>
          </a:solidFill>
          <a:ln cap="flat" cmpd="sng" w="9525">
            <a:solidFill>
              <a:srgbClr val="1027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3"/>
          <p:cNvSpPr txBox="1"/>
          <p:nvPr/>
        </p:nvSpPr>
        <p:spPr>
          <a:xfrm>
            <a:off x="244175" y="640875"/>
            <a:ext cx="8655600" cy="206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58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Identifying Physical Activity Intensity Windows Associated with Joint Space Width Using Accelerometer Data</a:t>
            </a: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" name="Google Shape;67;p13"/>
          <p:cNvSpPr txBox="1"/>
          <p:nvPr/>
        </p:nvSpPr>
        <p:spPr>
          <a:xfrm>
            <a:off x="2401475" y="2705775"/>
            <a:ext cx="4341000" cy="15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sz="2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Supervisor</a:t>
            </a:r>
            <a:r>
              <a:rPr lang="zh-CN" sz="2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  Osvaldo Espin Garcia</a:t>
            </a:r>
            <a:endParaRPr b="1" sz="2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Presenter</a:t>
            </a:r>
            <a:r>
              <a:rPr lang="zh-CN" sz="2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          Xiankai Yang</a:t>
            </a:r>
            <a:endParaRPr sz="28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</a:t>
            </a:r>
            <a:endParaRPr sz="2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/>
          <p:nvPr/>
        </p:nvSpPr>
        <p:spPr>
          <a:xfrm>
            <a:off x="2504100" y="4848975"/>
            <a:ext cx="4177800" cy="279300"/>
          </a:xfrm>
          <a:prstGeom prst="rect">
            <a:avLst/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4"/>
          <p:cNvSpPr txBox="1"/>
          <p:nvPr/>
        </p:nvSpPr>
        <p:spPr>
          <a:xfrm>
            <a:off x="8598600" y="4848975"/>
            <a:ext cx="7971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1/12</a:t>
            </a:r>
            <a:endParaRPr sz="15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" name="Google Shape;74;p14"/>
          <p:cNvSpPr txBox="1"/>
          <p:nvPr/>
        </p:nvSpPr>
        <p:spPr>
          <a:xfrm>
            <a:off x="2519100" y="4788525"/>
            <a:ext cx="4105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CHL5222H: Laboratory in Statistical Design and Analysis</a:t>
            </a:r>
            <a:endParaRPr sz="12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5" name="Google Shape;7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4300" y="4421075"/>
            <a:ext cx="2139700" cy="4444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4"/>
          <p:cNvSpPr txBox="1"/>
          <p:nvPr/>
        </p:nvSpPr>
        <p:spPr>
          <a:xfrm>
            <a:off x="6053100" y="484897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zh-CN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2026-04-22</a:t>
            </a:r>
            <a:endParaRPr sz="12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" name="Google Shape;77;p14"/>
          <p:cNvSpPr/>
          <p:nvPr/>
        </p:nvSpPr>
        <p:spPr>
          <a:xfrm>
            <a:off x="6639900" y="4848975"/>
            <a:ext cx="2504100" cy="279300"/>
          </a:xfrm>
          <a:prstGeom prst="rect">
            <a:avLst/>
          </a:prstGeom>
          <a:solidFill>
            <a:srgbClr val="1C458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4"/>
          <p:cNvSpPr/>
          <p:nvPr/>
        </p:nvSpPr>
        <p:spPr>
          <a:xfrm>
            <a:off x="0" y="4848975"/>
            <a:ext cx="2504100" cy="279300"/>
          </a:xfrm>
          <a:prstGeom prst="rect">
            <a:avLst/>
          </a:prstGeom>
          <a:solidFill>
            <a:srgbClr val="0E68B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4"/>
          <p:cNvSpPr txBox="1"/>
          <p:nvPr/>
        </p:nvSpPr>
        <p:spPr>
          <a:xfrm>
            <a:off x="0" y="4803975"/>
            <a:ext cx="2504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zh-CN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Instructor: Tony Panzarella</a:t>
            </a:r>
            <a:endParaRPr sz="12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" name="Google Shape;80;p14"/>
          <p:cNvSpPr txBox="1"/>
          <p:nvPr/>
        </p:nvSpPr>
        <p:spPr>
          <a:xfrm>
            <a:off x="6639900" y="4803975"/>
            <a:ext cx="2504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zh-CN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2026-04-23</a:t>
            </a:r>
            <a:endParaRPr sz="12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" name="Google Shape;81;p14"/>
          <p:cNvSpPr txBox="1"/>
          <p:nvPr/>
        </p:nvSpPr>
        <p:spPr>
          <a:xfrm>
            <a:off x="8664050" y="4766475"/>
            <a:ext cx="844500" cy="4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zh-CN" sz="1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/12</a:t>
            </a:r>
            <a:endParaRPr sz="15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2" name="Google Shape;82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91700" y="1284270"/>
            <a:ext cx="3552300" cy="2511005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4"/>
          <p:cNvSpPr/>
          <p:nvPr/>
        </p:nvSpPr>
        <p:spPr>
          <a:xfrm>
            <a:off x="0" y="0"/>
            <a:ext cx="9144000" cy="444300"/>
          </a:xfrm>
          <a:prstGeom prst="rect">
            <a:avLst/>
          </a:prstGeom>
          <a:solidFill>
            <a:srgbClr val="0E68B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4"/>
          <p:cNvSpPr txBox="1"/>
          <p:nvPr/>
        </p:nvSpPr>
        <p:spPr>
          <a:xfrm>
            <a:off x="0" y="-34212"/>
            <a:ext cx="55917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Table of Contents</a:t>
            </a:r>
            <a:endParaRPr sz="25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5" name="Google Shape;85;p14"/>
          <p:cNvPicPr preferRelativeResize="0"/>
          <p:nvPr/>
        </p:nvPicPr>
        <p:blipFill rotWithShape="1">
          <a:blip r:embed="rId5">
            <a:alphaModFix/>
          </a:blip>
          <a:srcRect b="85478" l="0" r="0" t="0"/>
          <a:stretch/>
        </p:blipFill>
        <p:spPr>
          <a:xfrm>
            <a:off x="359525" y="601000"/>
            <a:ext cx="403575" cy="4444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4"/>
          <p:cNvSpPr txBox="1"/>
          <p:nvPr/>
        </p:nvSpPr>
        <p:spPr>
          <a:xfrm>
            <a:off x="763100" y="555538"/>
            <a:ext cx="55917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>
                <a:latin typeface="Times New Roman"/>
                <a:ea typeface="Times New Roman"/>
                <a:cs typeface="Times New Roman"/>
                <a:sym typeface="Times New Roman"/>
              </a:rPr>
              <a:t>Background</a:t>
            </a:r>
            <a:r>
              <a:rPr lang="zh-CN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&amp; </a:t>
            </a:r>
            <a:r>
              <a:rPr lang="zh-CN" sz="2200">
                <a:latin typeface="Times New Roman"/>
                <a:ea typeface="Times New Roman"/>
                <a:cs typeface="Times New Roman"/>
                <a:sym typeface="Times New Roman"/>
              </a:rPr>
              <a:t>Previous Presentation</a:t>
            </a:r>
            <a:r>
              <a:rPr lang="zh-CN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Recap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7" name="Google Shape;87;p14"/>
          <p:cNvPicPr preferRelativeResize="0"/>
          <p:nvPr/>
        </p:nvPicPr>
        <p:blipFill rotWithShape="1">
          <a:blip r:embed="rId5">
            <a:alphaModFix/>
          </a:blip>
          <a:srcRect b="42779" l="0" r="0" t="42699"/>
          <a:stretch/>
        </p:blipFill>
        <p:spPr>
          <a:xfrm>
            <a:off x="359525" y="1213651"/>
            <a:ext cx="403575" cy="4444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4"/>
          <p:cNvSpPr txBox="1"/>
          <p:nvPr/>
        </p:nvSpPr>
        <p:spPr>
          <a:xfrm>
            <a:off x="763100" y="1179488"/>
            <a:ext cx="55917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 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9" name="Google Shape;89;p14"/>
          <p:cNvPicPr preferRelativeResize="0"/>
          <p:nvPr/>
        </p:nvPicPr>
        <p:blipFill rotWithShape="1">
          <a:blip r:embed="rId5">
            <a:alphaModFix/>
          </a:blip>
          <a:srcRect b="0" l="0" r="0" t="85479"/>
          <a:stretch/>
        </p:blipFill>
        <p:spPr>
          <a:xfrm>
            <a:off x="359538" y="2911550"/>
            <a:ext cx="403575" cy="4444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4"/>
          <p:cNvSpPr txBox="1"/>
          <p:nvPr/>
        </p:nvSpPr>
        <p:spPr>
          <a:xfrm>
            <a:off x="763113" y="2877400"/>
            <a:ext cx="55917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>
                <a:latin typeface="Times New Roman"/>
                <a:ea typeface="Times New Roman"/>
                <a:cs typeface="Times New Roman"/>
                <a:sym typeface="Times New Roman"/>
              </a:rPr>
              <a:t>Result &amp; </a:t>
            </a:r>
            <a:r>
              <a:rPr lang="zh-CN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Discussion 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1" name="Google Shape;91;p14"/>
          <p:cNvPicPr preferRelativeResize="0"/>
          <p:nvPr/>
        </p:nvPicPr>
        <p:blipFill rotWithShape="1">
          <a:blip r:embed="rId5">
            <a:alphaModFix/>
          </a:blip>
          <a:srcRect b="42693" l="0" r="0" t="42785"/>
          <a:stretch/>
        </p:blipFill>
        <p:spPr>
          <a:xfrm>
            <a:off x="857850" y="2352068"/>
            <a:ext cx="341450" cy="375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4"/>
          <p:cNvPicPr preferRelativeResize="0"/>
          <p:nvPr/>
        </p:nvPicPr>
        <p:blipFill rotWithShape="1">
          <a:blip r:embed="rId5">
            <a:alphaModFix/>
          </a:blip>
          <a:srcRect b="85479" l="0" r="0" t="0"/>
          <a:stretch/>
        </p:blipFill>
        <p:spPr>
          <a:xfrm>
            <a:off x="857850" y="1809975"/>
            <a:ext cx="341450" cy="375989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1199300" y="1741613"/>
            <a:ext cx="55917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>
                <a:latin typeface="Times New Roman"/>
                <a:ea typeface="Times New Roman"/>
                <a:cs typeface="Times New Roman"/>
                <a:sym typeface="Times New Roman"/>
              </a:rPr>
              <a:t>Data Preparation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1199300" y="2308013"/>
            <a:ext cx="55917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Optimization-Based Functional Modeling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5" name="Google Shape;95;p14"/>
          <p:cNvPicPr preferRelativeResize="0"/>
          <p:nvPr/>
        </p:nvPicPr>
        <p:blipFill rotWithShape="1">
          <a:blip r:embed="rId5">
            <a:alphaModFix/>
          </a:blip>
          <a:srcRect b="42693" l="0" r="0" t="42785"/>
          <a:stretch/>
        </p:blipFill>
        <p:spPr>
          <a:xfrm>
            <a:off x="857850" y="3998368"/>
            <a:ext cx="341450" cy="375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/>
          <p:cNvPicPr preferRelativeResize="0"/>
          <p:nvPr/>
        </p:nvPicPr>
        <p:blipFill rotWithShape="1">
          <a:blip r:embed="rId5">
            <a:alphaModFix/>
          </a:blip>
          <a:srcRect b="85479" l="0" r="0" t="0"/>
          <a:stretch/>
        </p:blipFill>
        <p:spPr>
          <a:xfrm>
            <a:off x="857850" y="3456275"/>
            <a:ext cx="341450" cy="375989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1199300" y="3387913"/>
            <a:ext cx="55917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>
                <a:latin typeface="Times New Roman"/>
                <a:ea typeface="Times New Roman"/>
                <a:cs typeface="Times New Roman"/>
                <a:sym typeface="Times New Roman"/>
              </a:rPr>
              <a:t>Current Achievement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1199300" y="3954313"/>
            <a:ext cx="55917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>
                <a:latin typeface="Times New Roman"/>
                <a:ea typeface="Times New Roman"/>
                <a:cs typeface="Times New Roman"/>
                <a:sym typeface="Times New Roman"/>
              </a:rPr>
              <a:t>Future Arrangement</a:t>
            </a:r>
            <a:r>
              <a:rPr lang="zh-C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/>
          <p:nvPr/>
        </p:nvSpPr>
        <p:spPr>
          <a:xfrm>
            <a:off x="33450" y="3727650"/>
            <a:ext cx="4465800" cy="1076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00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5"/>
          <p:cNvSpPr/>
          <p:nvPr/>
        </p:nvSpPr>
        <p:spPr>
          <a:xfrm>
            <a:off x="4782925" y="512700"/>
            <a:ext cx="4177800" cy="444300"/>
          </a:xfrm>
          <a:prstGeom prst="roundRect">
            <a:avLst>
              <a:gd fmla="val 16667" name="adj"/>
            </a:avLst>
          </a:prstGeom>
          <a:solidFill>
            <a:srgbClr val="0000F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5"/>
          <p:cNvSpPr/>
          <p:nvPr/>
        </p:nvSpPr>
        <p:spPr>
          <a:xfrm>
            <a:off x="33477" y="512700"/>
            <a:ext cx="4465800" cy="444300"/>
          </a:xfrm>
          <a:prstGeom prst="roundRect">
            <a:avLst>
              <a:gd fmla="val 16667" name="adj"/>
            </a:avLst>
          </a:prstGeom>
          <a:solidFill>
            <a:srgbClr val="0000F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5"/>
          <p:cNvSpPr/>
          <p:nvPr/>
        </p:nvSpPr>
        <p:spPr>
          <a:xfrm>
            <a:off x="2504100" y="4848975"/>
            <a:ext cx="4177800" cy="279300"/>
          </a:xfrm>
          <a:prstGeom prst="rect">
            <a:avLst/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8598600" y="4848975"/>
            <a:ext cx="7971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1/12</a:t>
            </a:r>
            <a:endParaRPr sz="15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" name="Google Shape;108;p15"/>
          <p:cNvSpPr txBox="1"/>
          <p:nvPr/>
        </p:nvSpPr>
        <p:spPr>
          <a:xfrm>
            <a:off x="2519100" y="4788525"/>
            <a:ext cx="4105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CHL5222H: Laboratory in Statistical Design and Analysis</a:t>
            </a:r>
            <a:endParaRPr sz="12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9" name="Google Shape;10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4300" y="4421075"/>
            <a:ext cx="2139700" cy="44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6053100" y="484897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zh-CN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2026-04-22</a:t>
            </a:r>
            <a:endParaRPr sz="12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" name="Google Shape;111;p15"/>
          <p:cNvSpPr/>
          <p:nvPr/>
        </p:nvSpPr>
        <p:spPr>
          <a:xfrm>
            <a:off x="6639900" y="4848975"/>
            <a:ext cx="2504100" cy="279300"/>
          </a:xfrm>
          <a:prstGeom prst="rect">
            <a:avLst/>
          </a:prstGeom>
          <a:solidFill>
            <a:srgbClr val="1C458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5"/>
          <p:cNvSpPr/>
          <p:nvPr/>
        </p:nvSpPr>
        <p:spPr>
          <a:xfrm>
            <a:off x="0" y="4848975"/>
            <a:ext cx="2504100" cy="279300"/>
          </a:xfrm>
          <a:prstGeom prst="rect">
            <a:avLst/>
          </a:prstGeom>
          <a:solidFill>
            <a:srgbClr val="0E68B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0" y="4803975"/>
            <a:ext cx="2504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zh-CN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Instructor: Tony Panzarella</a:t>
            </a:r>
            <a:endParaRPr sz="12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" name="Google Shape;114;p15"/>
          <p:cNvSpPr txBox="1"/>
          <p:nvPr/>
        </p:nvSpPr>
        <p:spPr>
          <a:xfrm>
            <a:off x="6639900" y="4803975"/>
            <a:ext cx="2504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zh-CN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2026-04-23</a:t>
            </a:r>
            <a:endParaRPr sz="12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" name="Google Shape;115;p15"/>
          <p:cNvSpPr txBox="1"/>
          <p:nvPr/>
        </p:nvSpPr>
        <p:spPr>
          <a:xfrm>
            <a:off x="8664050" y="4766475"/>
            <a:ext cx="844500" cy="4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zh-CN" sz="1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/12</a:t>
            </a:r>
            <a:endParaRPr sz="15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0" y="0"/>
            <a:ext cx="9144000" cy="444300"/>
          </a:xfrm>
          <a:prstGeom prst="rect">
            <a:avLst/>
          </a:prstGeom>
          <a:solidFill>
            <a:srgbClr val="0E68B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0" y="-34200"/>
            <a:ext cx="70590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Background &amp; Previous Presentation Recap</a:t>
            </a:r>
            <a:endParaRPr sz="25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" name="Google Shape;118;p15"/>
          <p:cNvSpPr txBox="1"/>
          <p:nvPr/>
        </p:nvSpPr>
        <p:spPr>
          <a:xfrm>
            <a:off x="33450" y="444300"/>
            <a:ext cx="44658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Description</a:t>
            </a:r>
            <a:endParaRPr sz="22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19" name="Google Shape;119;p15"/>
          <p:cNvCxnSpPr/>
          <p:nvPr/>
        </p:nvCxnSpPr>
        <p:spPr>
          <a:xfrm flipH="1">
            <a:off x="4587750" y="511075"/>
            <a:ext cx="10500" cy="4305300"/>
          </a:xfrm>
          <a:prstGeom prst="straightConnector1">
            <a:avLst/>
          </a:prstGeom>
          <a:noFill/>
          <a:ln cap="flat" cmpd="sng" w="28575">
            <a:solidFill>
              <a:srgbClr val="27448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" name="Google Shape;120;p15"/>
          <p:cNvSpPr txBox="1"/>
          <p:nvPr/>
        </p:nvSpPr>
        <p:spPr>
          <a:xfrm>
            <a:off x="4782925" y="478500"/>
            <a:ext cx="41778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Conduct OTC</a:t>
            </a:r>
            <a:endParaRPr sz="22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2100" y="4062150"/>
            <a:ext cx="2372000" cy="70432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0" y="3674475"/>
            <a:ext cx="453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Medial Minimum Joint Space Width (</a:t>
            </a:r>
            <a:r>
              <a:rPr b="1" lang="zh-CN" sz="1000">
                <a:solidFill>
                  <a:srgbClr val="0000E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Outcome</a:t>
            </a:r>
            <a:r>
              <a:rPr b="1" lang="zh-C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zh-C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measured in millimeters (mm), represents the minimum distance between the femur and tibia within the knee joint.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2393100" y="4002300"/>
            <a:ext cx="21396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>
                <a:latin typeface="Times New Roman"/>
                <a:ea typeface="Times New Roman"/>
                <a:cs typeface="Times New Roman"/>
                <a:sym typeface="Times New Roman"/>
              </a:rPr>
              <a:t>• </a:t>
            </a:r>
            <a:r>
              <a:rPr lang="zh-CN" sz="1100"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b="1" lang="zh-CN" sz="1100">
                <a:latin typeface="Times New Roman"/>
                <a:ea typeface="Times New Roman"/>
                <a:cs typeface="Times New Roman"/>
                <a:sym typeface="Times New Roman"/>
              </a:rPr>
              <a:t>larger</a:t>
            </a:r>
            <a:r>
              <a:rPr lang="zh-CN" sz="1100">
                <a:latin typeface="Times New Roman"/>
                <a:ea typeface="Times New Roman"/>
                <a:cs typeface="Times New Roman"/>
                <a:sym typeface="Times New Roman"/>
              </a:rPr>
              <a:t> JSW: healthier cartilage and less structural degeneration.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>
                <a:latin typeface="Times New Roman"/>
                <a:ea typeface="Times New Roman"/>
                <a:cs typeface="Times New Roman"/>
                <a:sym typeface="Times New Roman"/>
              </a:rPr>
              <a:t>• </a:t>
            </a:r>
            <a:r>
              <a:rPr lang="zh-CN" sz="1100"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b="1" lang="zh-CN" sz="1100">
                <a:latin typeface="Times New Roman"/>
                <a:ea typeface="Times New Roman"/>
                <a:cs typeface="Times New Roman"/>
                <a:sym typeface="Times New Roman"/>
              </a:rPr>
              <a:t>smaller</a:t>
            </a:r>
            <a:r>
              <a:rPr lang="zh-CN" sz="1100">
                <a:latin typeface="Times New Roman"/>
                <a:ea typeface="Times New Roman"/>
                <a:cs typeface="Times New Roman"/>
                <a:sym typeface="Times New Roman"/>
              </a:rPr>
              <a:t> JSW: cartilage loss and narrowing of the joint space.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 rotWithShape="1">
          <a:blip r:embed="rId3">
            <a:alphaModFix/>
          </a:blip>
          <a:srcRect b="17560" l="0" r="0" t="0"/>
          <a:stretch/>
        </p:blipFill>
        <p:spPr>
          <a:xfrm>
            <a:off x="3515575" y="908075"/>
            <a:ext cx="1905300" cy="2103752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/>
          <p:nvPr/>
        </p:nvSpPr>
        <p:spPr>
          <a:xfrm>
            <a:off x="2504100" y="4848975"/>
            <a:ext cx="4177800" cy="279300"/>
          </a:xfrm>
          <a:prstGeom prst="rect">
            <a:avLst/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8598600" y="4848975"/>
            <a:ext cx="7971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1/12</a:t>
            </a:r>
            <a:endParaRPr sz="15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" name="Google Shape;131;p16"/>
          <p:cNvSpPr txBox="1"/>
          <p:nvPr/>
        </p:nvSpPr>
        <p:spPr>
          <a:xfrm>
            <a:off x="2519100" y="4788525"/>
            <a:ext cx="4105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CHL5222H: Laboratory in Statistical Design and Analysis</a:t>
            </a:r>
            <a:endParaRPr sz="12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04300" y="4421075"/>
            <a:ext cx="2139700" cy="44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>
            <a:off x="6053100" y="484897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zh-CN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2026-04-22</a:t>
            </a:r>
            <a:endParaRPr sz="12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" name="Google Shape;134;p16"/>
          <p:cNvSpPr/>
          <p:nvPr/>
        </p:nvSpPr>
        <p:spPr>
          <a:xfrm>
            <a:off x="6639900" y="4848975"/>
            <a:ext cx="2504100" cy="279300"/>
          </a:xfrm>
          <a:prstGeom prst="rect">
            <a:avLst/>
          </a:prstGeom>
          <a:solidFill>
            <a:srgbClr val="1C458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6"/>
          <p:cNvSpPr/>
          <p:nvPr/>
        </p:nvSpPr>
        <p:spPr>
          <a:xfrm>
            <a:off x="0" y="4848975"/>
            <a:ext cx="2504100" cy="279300"/>
          </a:xfrm>
          <a:prstGeom prst="rect">
            <a:avLst/>
          </a:prstGeom>
          <a:solidFill>
            <a:srgbClr val="0E68B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0" y="4803975"/>
            <a:ext cx="2504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zh-CN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Instructor: Tony Panzarella</a:t>
            </a:r>
            <a:endParaRPr sz="12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" name="Google Shape;137;p16"/>
          <p:cNvSpPr txBox="1"/>
          <p:nvPr/>
        </p:nvSpPr>
        <p:spPr>
          <a:xfrm>
            <a:off x="6639900" y="4803975"/>
            <a:ext cx="2504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zh-CN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2026-04-23</a:t>
            </a:r>
            <a:endParaRPr sz="12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" name="Google Shape;138;p16"/>
          <p:cNvSpPr txBox="1"/>
          <p:nvPr/>
        </p:nvSpPr>
        <p:spPr>
          <a:xfrm>
            <a:off x="8664050" y="4766475"/>
            <a:ext cx="844500" cy="4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zh-CN" sz="1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/12</a:t>
            </a:r>
            <a:endParaRPr sz="15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" name="Google Shape;139;p16"/>
          <p:cNvSpPr/>
          <p:nvPr/>
        </p:nvSpPr>
        <p:spPr>
          <a:xfrm>
            <a:off x="0" y="0"/>
            <a:ext cx="9144000" cy="444300"/>
          </a:xfrm>
          <a:prstGeom prst="rect">
            <a:avLst/>
          </a:prstGeom>
          <a:solidFill>
            <a:srgbClr val="0E68B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0" y="-34200"/>
            <a:ext cx="70590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Background &amp; Previous Presentation Recap</a:t>
            </a:r>
            <a:endParaRPr sz="25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" name="Google Shape;141;p16"/>
          <p:cNvSpPr/>
          <p:nvPr/>
        </p:nvSpPr>
        <p:spPr>
          <a:xfrm>
            <a:off x="5552739" y="514350"/>
            <a:ext cx="3548100" cy="444300"/>
          </a:xfrm>
          <a:prstGeom prst="roundRect">
            <a:avLst>
              <a:gd fmla="val 16667" name="adj"/>
            </a:avLst>
          </a:prstGeom>
          <a:solidFill>
            <a:srgbClr val="0000F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5550000" y="442650"/>
            <a:ext cx="35481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this method?</a:t>
            </a:r>
            <a:endParaRPr sz="22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43" name="Google Shape;143;p16"/>
          <p:cNvCxnSpPr/>
          <p:nvPr/>
        </p:nvCxnSpPr>
        <p:spPr>
          <a:xfrm flipH="1">
            <a:off x="5471638" y="493988"/>
            <a:ext cx="10500" cy="4305300"/>
          </a:xfrm>
          <a:prstGeom prst="straightConnector1">
            <a:avLst/>
          </a:prstGeom>
          <a:noFill/>
          <a:ln cap="flat" cmpd="sng" w="28575">
            <a:solidFill>
              <a:srgbClr val="27448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4" name="Google Shape;144;p16"/>
          <p:cNvSpPr/>
          <p:nvPr/>
        </p:nvSpPr>
        <p:spPr>
          <a:xfrm>
            <a:off x="73098" y="516000"/>
            <a:ext cx="3333000" cy="444300"/>
          </a:xfrm>
          <a:prstGeom prst="roundRect">
            <a:avLst>
              <a:gd fmla="val 16667" name="adj"/>
            </a:avLst>
          </a:prstGeom>
          <a:solidFill>
            <a:srgbClr val="0000F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70525" y="444300"/>
            <a:ext cx="33330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OTC→AUC</a:t>
            </a:r>
            <a:endParaRPr sz="22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6" name="Google Shape;146;p16"/>
          <p:cNvSpPr/>
          <p:nvPr/>
        </p:nvSpPr>
        <p:spPr>
          <a:xfrm>
            <a:off x="74684" y="3011825"/>
            <a:ext cx="5354700" cy="444300"/>
          </a:xfrm>
          <a:prstGeom prst="roundRect">
            <a:avLst>
              <a:gd fmla="val 16667" name="adj"/>
            </a:avLst>
          </a:prstGeom>
          <a:solidFill>
            <a:srgbClr val="0000F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70550" y="2940125"/>
            <a:ext cx="53547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Functional Data Representation</a:t>
            </a:r>
            <a:endParaRPr sz="22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48" name="Google Shape;148;p16"/>
          <p:cNvGraphicFramePr/>
          <p:nvPr/>
        </p:nvGraphicFramePr>
        <p:xfrm>
          <a:off x="70513" y="35353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{AD6FA5CA-3BA7-48AB-8108-7B984188D8BE}</a:tableStyleId>
              </a:tblPr>
              <a:tblGrid>
                <a:gridCol w="1827825"/>
                <a:gridCol w="3526900"/>
              </a:tblGrid>
              <a:tr h="139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C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Variable</a:t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CN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Description</a:t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9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CN" sz="10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$$Y_i$$</a:t>
                      </a:r>
                      <a:endParaRPr b="1" sz="10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C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Outcome (Medial Minimum Joint Space Width)</a:t>
                      </a:r>
                      <a:endParaRPr b="1" sz="10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9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CN" sz="10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HRT/DIA</a:t>
                      </a:r>
                      <a:endParaRPr b="1" sz="10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C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Additional covariate (currently not select)</a:t>
                      </a:r>
                      <a:endParaRPr b="1" sz="10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9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CN" sz="10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MNACT5</a:t>
                      </a:r>
                      <a:endParaRPr b="1" sz="10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C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Area under the activity curve across intensity intervals (Summary of time spent)</a:t>
                      </a:r>
                      <a:endParaRPr b="1" sz="10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49" name="Google Shape;149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4236" y="3820698"/>
            <a:ext cx="156383" cy="172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7350" y="4076038"/>
            <a:ext cx="170156" cy="19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34250" y="4355625"/>
            <a:ext cx="1686550" cy="242225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6"/>
          <p:cNvSpPr/>
          <p:nvPr/>
        </p:nvSpPr>
        <p:spPr>
          <a:xfrm>
            <a:off x="3525408" y="512700"/>
            <a:ext cx="1905300" cy="444300"/>
          </a:xfrm>
          <a:prstGeom prst="roundRect">
            <a:avLst>
              <a:gd fmla="val 16667" name="adj"/>
            </a:avLst>
          </a:prstGeom>
          <a:solidFill>
            <a:srgbClr val="0000F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3523938" y="441000"/>
            <a:ext cx="1905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 Outcome</a:t>
            </a:r>
            <a:endParaRPr sz="22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54" name="Google Shape;154;p16"/>
          <p:cNvCxnSpPr/>
          <p:nvPr/>
        </p:nvCxnSpPr>
        <p:spPr>
          <a:xfrm flipH="1">
            <a:off x="3462688" y="501063"/>
            <a:ext cx="2100" cy="2416500"/>
          </a:xfrm>
          <a:prstGeom prst="straightConnector1">
            <a:avLst/>
          </a:prstGeom>
          <a:noFill/>
          <a:ln cap="flat" cmpd="sng" w="28575">
            <a:solidFill>
              <a:srgbClr val="27448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5" name="Google Shape;155;p16"/>
          <p:cNvSpPr/>
          <p:nvPr/>
        </p:nvSpPr>
        <p:spPr>
          <a:xfrm>
            <a:off x="4078000" y="2744750"/>
            <a:ext cx="318900" cy="112800"/>
          </a:xfrm>
          <a:prstGeom prst="ellipse">
            <a:avLst/>
          </a:prstGeom>
          <a:noFill/>
          <a:ln cap="flat" cmpd="sng" w="9525">
            <a:solidFill>
              <a:srgbClr val="000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7"/>
          <p:cNvSpPr/>
          <p:nvPr/>
        </p:nvSpPr>
        <p:spPr>
          <a:xfrm>
            <a:off x="0" y="2401775"/>
            <a:ext cx="6567900" cy="2514600"/>
          </a:xfrm>
          <a:prstGeom prst="rect">
            <a:avLst/>
          </a:prstGeom>
          <a:solidFill>
            <a:srgbClr val="27448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7"/>
          <p:cNvSpPr/>
          <p:nvPr/>
        </p:nvSpPr>
        <p:spPr>
          <a:xfrm>
            <a:off x="4583322" y="1056400"/>
            <a:ext cx="1984500" cy="1361700"/>
          </a:xfrm>
          <a:prstGeom prst="rect">
            <a:avLst/>
          </a:prstGeom>
          <a:solidFill>
            <a:srgbClr val="2F66A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7"/>
          <p:cNvSpPr/>
          <p:nvPr/>
        </p:nvSpPr>
        <p:spPr>
          <a:xfrm>
            <a:off x="0" y="1056400"/>
            <a:ext cx="4656600" cy="1361700"/>
          </a:xfrm>
          <a:prstGeom prst="rect">
            <a:avLst/>
          </a:prstGeom>
          <a:solidFill>
            <a:srgbClr val="2F66A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3" name="Google Shape;163;p17" title="1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56825" y="1131400"/>
            <a:ext cx="1837501" cy="1166076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7"/>
          <p:cNvSpPr/>
          <p:nvPr/>
        </p:nvSpPr>
        <p:spPr>
          <a:xfrm>
            <a:off x="2504100" y="4848975"/>
            <a:ext cx="4177800" cy="279300"/>
          </a:xfrm>
          <a:prstGeom prst="rect">
            <a:avLst/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8598600" y="4848975"/>
            <a:ext cx="7971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1/12</a:t>
            </a:r>
            <a:endParaRPr sz="15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" name="Google Shape;166;p17"/>
          <p:cNvSpPr txBox="1"/>
          <p:nvPr/>
        </p:nvSpPr>
        <p:spPr>
          <a:xfrm>
            <a:off x="2519100" y="4788525"/>
            <a:ext cx="4105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CHL5222H: Laboratory in Statistical Design and Analysis</a:t>
            </a:r>
            <a:endParaRPr sz="12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7" name="Google Shape;167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04300" y="4421075"/>
            <a:ext cx="2139700" cy="44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7"/>
          <p:cNvSpPr txBox="1"/>
          <p:nvPr/>
        </p:nvSpPr>
        <p:spPr>
          <a:xfrm>
            <a:off x="6053100" y="484897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zh-CN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2026-04-22</a:t>
            </a:r>
            <a:endParaRPr sz="12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9" name="Google Shape;169;p17"/>
          <p:cNvSpPr/>
          <p:nvPr/>
        </p:nvSpPr>
        <p:spPr>
          <a:xfrm>
            <a:off x="6639900" y="4848975"/>
            <a:ext cx="2504100" cy="279300"/>
          </a:xfrm>
          <a:prstGeom prst="rect">
            <a:avLst/>
          </a:prstGeom>
          <a:solidFill>
            <a:srgbClr val="1C458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7"/>
          <p:cNvSpPr/>
          <p:nvPr/>
        </p:nvSpPr>
        <p:spPr>
          <a:xfrm>
            <a:off x="0" y="4848975"/>
            <a:ext cx="2504100" cy="279300"/>
          </a:xfrm>
          <a:prstGeom prst="rect">
            <a:avLst/>
          </a:prstGeom>
          <a:solidFill>
            <a:srgbClr val="0E68B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0" y="4803975"/>
            <a:ext cx="2504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zh-CN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Instructor: Tony Panzarella</a:t>
            </a:r>
            <a:endParaRPr sz="12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2" name="Google Shape;172;p17"/>
          <p:cNvSpPr txBox="1"/>
          <p:nvPr/>
        </p:nvSpPr>
        <p:spPr>
          <a:xfrm>
            <a:off x="6639900" y="4803975"/>
            <a:ext cx="2504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zh-CN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2026-04-23</a:t>
            </a:r>
            <a:endParaRPr sz="12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3" name="Google Shape;173;p17"/>
          <p:cNvSpPr txBox="1"/>
          <p:nvPr/>
        </p:nvSpPr>
        <p:spPr>
          <a:xfrm>
            <a:off x="8664050" y="4766475"/>
            <a:ext cx="844500" cy="4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zh-CN" sz="1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/12</a:t>
            </a:r>
            <a:endParaRPr sz="15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4" name="Google Shape;174;p17"/>
          <p:cNvSpPr/>
          <p:nvPr/>
        </p:nvSpPr>
        <p:spPr>
          <a:xfrm>
            <a:off x="0" y="0"/>
            <a:ext cx="9144000" cy="444300"/>
          </a:xfrm>
          <a:prstGeom prst="rect">
            <a:avLst/>
          </a:prstGeom>
          <a:solidFill>
            <a:srgbClr val="0E68B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0" y="-34200"/>
            <a:ext cx="68091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Method: </a:t>
            </a:r>
            <a:r>
              <a:rPr lang="zh-CN" sz="2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Implementation Challenge</a:t>
            </a:r>
            <a:endParaRPr sz="25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6" name="Google Shape;176;p17"/>
          <p:cNvSpPr/>
          <p:nvPr/>
        </p:nvSpPr>
        <p:spPr>
          <a:xfrm>
            <a:off x="6723554" y="517775"/>
            <a:ext cx="2402100" cy="444300"/>
          </a:xfrm>
          <a:prstGeom prst="roundRect">
            <a:avLst>
              <a:gd fmla="val 16667" name="adj"/>
            </a:avLst>
          </a:prstGeom>
          <a:solidFill>
            <a:srgbClr val="0000F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7"/>
          <p:cNvSpPr txBox="1"/>
          <p:nvPr/>
        </p:nvSpPr>
        <p:spPr>
          <a:xfrm>
            <a:off x="6721700" y="446075"/>
            <a:ext cx="24021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Standardization</a:t>
            </a:r>
            <a:endParaRPr sz="22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8" name="Google Shape;178;p17"/>
          <p:cNvPicPr preferRelativeResize="0"/>
          <p:nvPr/>
        </p:nvPicPr>
        <p:blipFill rotWithShape="1">
          <a:blip r:embed="rId5">
            <a:alphaModFix/>
          </a:blip>
          <a:srcRect b="43407" l="0" r="0" t="5855"/>
          <a:stretch/>
        </p:blipFill>
        <p:spPr>
          <a:xfrm>
            <a:off x="134150" y="1131400"/>
            <a:ext cx="4414700" cy="1166075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7"/>
          <p:cNvSpPr/>
          <p:nvPr/>
        </p:nvSpPr>
        <p:spPr>
          <a:xfrm>
            <a:off x="29809" y="519425"/>
            <a:ext cx="6513300" cy="444300"/>
          </a:xfrm>
          <a:prstGeom prst="roundRect">
            <a:avLst>
              <a:gd fmla="val 16667" name="adj"/>
            </a:avLst>
          </a:prstGeom>
          <a:solidFill>
            <a:srgbClr val="0000F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7"/>
          <p:cNvSpPr txBox="1"/>
          <p:nvPr/>
        </p:nvSpPr>
        <p:spPr>
          <a:xfrm>
            <a:off x="24781" y="447725"/>
            <a:ext cx="6513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AUC Validation</a:t>
            </a:r>
            <a:endParaRPr sz="22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1" name="Google Shape;181;p17"/>
          <p:cNvSpPr/>
          <p:nvPr/>
        </p:nvSpPr>
        <p:spPr>
          <a:xfrm>
            <a:off x="80400" y="1674925"/>
            <a:ext cx="4503000" cy="2034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2" name="Google Shape;182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140975" y="2528650"/>
            <a:ext cx="1407875" cy="220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7" title="Rplot03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34156" y="2528638"/>
            <a:ext cx="2953281" cy="22097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4" name="Google Shape;184;p17"/>
          <p:cNvCxnSpPr/>
          <p:nvPr/>
        </p:nvCxnSpPr>
        <p:spPr>
          <a:xfrm flipH="1">
            <a:off x="6627138" y="511088"/>
            <a:ext cx="10500" cy="4305300"/>
          </a:xfrm>
          <a:prstGeom prst="straightConnector1">
            <a:avLst/>
          </a:prstGeom>
          <a:noFill/>
          <a:ln cap="flat" cmpd="sng" w="28575">
            <a:solidFill>
              <a:srgbClr val="27448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85" name="Google Shape;185;p17"/>
          <p:cNvPicPr preferRelativeResize="0"/>
          <p:nvPr/>
        </p:nvPicPr>
        <p:blipFill rotWithShape="1">
          <a:blip r:embed="rId8">
            <a:alphaModFix/>
          </a:blip>
          <a:srcRect b="42693" l="0" r="0" t="42785"/>
          <a:stretch/>
        </p:blipFill>
        <p:spPr>
          <a:xfrm>
            <a:off x="134150" y="2641225"/>
            <a:ext cx="184625" cy="20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7"/>
          <p:cNvPicPr preferRelativeResize="0"/>
          <p:nvPr/>
        </p:nvPicPr>
        <p:blipFill rotWithShape="1">
          <a:blip r:embed="rId8">
            <a:alphaModFix/>
          </a:blip>
          <a:srcRect b="85479" l="0" r="0" t="0"/>
          <a:stretch/>
        </p:blipFill>
        <p:spPr>
          <a:xfrm>
            <a:off x="134150" y="1131388"/>
            <a:ext cx="184625" cy="203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44700" y="999788"/>
            <a:ext cx="2348643" cy="3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44813" y="1031375"/>
            <a:ext cx="2262700" cy="467429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8"/>
          <p:cNvSpPr txBox="1"/>
          <p:nvPr/>
        </p:nvSpPr>
        <p:spPr>
          <a:xfrm>
            <a:off x="69313" y="1061125"/>
            <a:ext cx="1375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300">
                <a:latin typeface="Times New Roman"/>
                <a:ea typeface="Times New Roman"/>
                <a:cs typeface="Times New Roman"/>
                <a:sym typeface="Times New Roman"/>
              </a:rPr>
              <a:t>Ideal Model:</a:t>
            </a:r>
            <a:endParaRPr b="1" sz="1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" name="Google Shape;194;p18"/>
          <p:cNvSpPr/>
          <p:nvPr/>
        </p:nvSpPr>
        <p:spPr>
          <a:xfrm>
            <a:off x="2504100" y="4848975"/>
            <a:ext cx="4177800" cy="279300"/>
          </a:xfrm>
          <a:prstGeom prst="rect">
            <a:avLst/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8"/>
          <p:cNvSpPr txBox="1"/>
          <p:nvPr/>
        </p:nvSpPr>
        <p:spPr>
          <a:xfrm>
            <a:off x="8598600" y="4848975"/>
            <a:ext cx="7971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1/12</a:t>
            </a:r>
            <a:endParaRPr sz="15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6" name="Google Shape;196;p18"/>
          <p:cNvSpPr txBox="1"/>
          <p:nvPr/>
        </p:nvSpPr>
        <p:spPr>
          <a:xfrm>
            <a:off x="2519100" y="4788525"/>
            <a:ext cx="4105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CHL5222H: Laboratory in Statistical Design and Analysis</a:t>
            </a:r>
            <a:endParaRPr sz="12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7" name="Google Shape;197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04300" y="4421075"/>
            <a:ext cx="2139700" cy="44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8"/>
          <p:cNvSpPr txBox="1"/>
          <p:nvPr/>
        </p:nvSpPr>
        <p:spPr>
          <a:xfrm>
            <a:off x="6053100" y="484897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zh-CN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2026-04-22</a:t>
            </a:r>
            <a:endParaRPr sz="12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9" name="Google Shape;199;p18"/>
          <p:cNvSpPr/>
          <p:nvPr/>
        </p:nvSpPr>
        <p:spPr>
          <a:xfrm>
            <a:off x="6639900" y="4848975"/>
            <a:ext cx="2504100" cy="279300"/>
          </a:xfrm>
          <a:prstGeom prst="rect">
            <a:avLst/>
          </a:prstGeom>
          <a:solidFill>
            <a:srgbClr val="1C458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8"/>
          <p:cNvSpPr/>
          <p:nvPr/>
        </p:nvSpPr>
        <p:spPr>
          <a:xfrm>
            <a:off x="0" y="4848975"/>
            <a:ext cx="2504100" cy="279300"/>
          </a:xfrm>
          <a:prstGeom prst="rect">
            <a:avLst/>
          </a:prstGeom>
          <a:solidFill>
            <a:srgbClr val="0E68B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8"/>
          <p:cNvSpPr txBox="1"/>
          <p:nvPr/>
        </p:nvSpPr>
        <p:spPr>
          <a:xfrm>
            <a:off x="0" y="4803975"/>
            <a:ext cx="2504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zh-CN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Instructor: Tony Panzarella</a:t>
            </a:r>
            <a:endParaRPr sz="12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2" name="Google Shape;202;p18"/>
          <p:cNvSpPr txBox="1"/>
          <p:nvPr/>
        </p:nvSpPr>
        <p:spPr>
          <a:xfrm>
            <a:off x="6639900" y="4803975"/>
            <a:ext cx="2504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zh-CN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2026-04-23</a:t>
            </a:r>
            <a:endParaRPr sz="12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3" name="Google Shape;203;p18"/>
          <p:cNvSpPr txBox="1"/>
          <p:nvPr/>
        </p:nvSpPr>
        <p:spPr>
          <a:xfrm>
            <a:off x="8664050" y="4766475"/>
            <a:ext cx="844500" cy="4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zh-CN" sz="1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/12</a:t>
            </a:r>
            <a:endParaRPr sz="15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4" name="Google Shape;204;p18"/>
          <p:cNvSpPr/>
          <p:nvPr/>
        </p:nvSpPr>
        <p:spPr>
          <a:xfrm>
            <a:off x="0" y="0"/>
            <a:ext cx="9144000" cy="444300"/>
          </a:xfrm>
          <a:prstGeom prst="rect">
            <a:avLst/>
          </a:prstGeom>
          <a:solidFill>
            <a:srgbClr val="0E68B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8"/>
          <p:cNvSpPr txBox="1"/>
          <p:nvPr/>
        </p:nvSpPr>
        <p:spPr>
          <a:xfrm>
            <a:off x="0" y="-34200"/>
            <a:ext cx="68091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Method: Optimization-Based Functional Modeling</a:t>
            </a:r>
            <a:endParaRPr sz="25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6" name="Google Shape;206;p18"/>
          <p:cNvSpPr/>
          <p:nvPr/>
        </p:nvSpPr>
        <p:spPr>
          <a:xfrm>
            <a:off x="75322" y="513400"/>
            <a:ext cx="9000300" cy="444300"/>
          </a:xfrm>
          <a:prstGeom prst="roundRect">
            <a:avLst>
              <a:gd fmla="val 16667" name="adj"/>
            </a:avLst>
          </a:prstGeom>
          <a:solidFill>
            <a:srgbClr val="0000F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8"/>
          <p:cNvSpPr txBox="1"/>
          <p:nvPr/>
        </p:nvSpPr>
        <p:spPr>
          <a:xfrm>
            <a:off x="68375" y="441700"/>
            <a:ext cx="9000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Functional Model Establishment</a:t>
            </a:r>
            <a:endParaRPr sz="22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8" name="Google Shape;208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21175" y="2337698"/>
            <a:ext cx="2844092" cy="44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8"/>
          <p:cNvSpPr txBox="1"/>
          <p:nvPr/>
        </p:nvSpPr>
        <p:spPr>
          <a:xfrm>
            <a:off x="21650" y="2842813"/>
            <a:ext cx="4177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1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b="1" lang="zh-CN" sz="1100">
                <a:latin typeface="Times New Roman"/>
                <a:ea typeface="Times New Roman"/>
                <a:cs typeface="Times New Roman"/>
                <a:sym typeface="Times New Roman"/>
              </a:rPr>
              <a:t>uild a discrete</a:t>
            </a:r>
            <a:r>
              <a:rPr b="1" lang="zh-CN" sz="11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zh-CN" sz="1100">
                <a:latin typeface="Times New Roman"/>
                <a:ea typeface="Times New Roman"/>
                <a:cs typeface="Times New Roman"/>
                <a:sym typeface="Times New Roman"/>
              </a:rPr>
              <a:t>approximation of a functional regression.</a:t>
            </a:r>
            <a:endParaRPr b="1"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0" name="Google Shape;210;p18"/>
          <p:cNvSpPr txBox="1"/>
          <p:nvPr/>
        </p:nvSpPr>
        <p:spPr>
          <a:xfrm>
            <a:off x="45013" y="1478188"/>
            <a:ext cx="4105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000">
                <a:latin typeface="Times New Roman"/>
                <a:ea typeface="Times New Roman"/>
                <a:cs typeface="Times New Roman"/>
                <a:sym typeface="Times New Roman"/>
              </a:rPr>
              <a:t>This model directly captures how the effect varies with activity intensity.</a:t>
            </a:r>
            <a:endParaRPr/>
          </a:p>
        </p:txBody>
      </p:sp>
      <p:sp>
        <p:nvSpPr>
          <p:cNvPr id="211" name="Google Shape;211;p18"/>
          <p:cNvSpPr/>
          <p:nvPr/>
        </p:nvSpPr>
        <p:spPr>
          <a:xfrm>
            <a:off x="91738" y="1031375"/>
            <a:ext cx="4212300" cy="831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00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8"/>
          <p:cNvSpPr txBox="1"/>
          <p:nvPr/>
        </p:nvSpPr>
        <p:spPr>
          <a:xfrm>
            <a:off x="0" y="1936038"/>
            <a:ext cx="444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>
                <a:latin typeface="Times New Roman"/>
                <a:ea typeface="Times New Roman"/>
                <a:cs typeface="Times New Roman"/>
                <a:sym typeface="Times New Roman"/>
              </a:rPr>
              <a:t>Since the observed activity data are discrete rather than continuous,</a:t>
            </a:r>
            <a:endParaRPr sz="1600"/>
          </a:p>
        </p:txBody>
      </p:sp>
      <p:sp>
        <p:nvSpPr>
          <p:cNvPr id="213" name="Google Shape;213;p18"/>
          <p:cNvSpPr txBox="1"/>
          <p:nvPr/>
        </p:nvSpPr>
        <p:spPr>
          <a:xfrm>
            <a:off x="21650" y="2389438"/>
            <a:ext cx="178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200">
                <a:latin typeface="Times New Roman"/>
                <a:ea typeface="Times New Roman"/>
                <a:cs typeface="Times New Roman"/>
                <a:sym typeface="Times New Roman"/>
              </a:rPr>
              <a:t>Alternative Model:</a:t>
            </a:r>
            <a:endParaRPr b="1"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4" name="Google Shape;214;p18"/>
          <p:cNvSpPr/>
          <p:nvPr/>
        </p:nvSpPr>
        <p:spPr>
          <a:xfrm>
            <a:off x="68375" y="2337697"/>
            <a:ext cx="4212300" cy="912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00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8"/>
          <p:cNvSpPr txBox="1"/>
          <p:nvPr/>
        </p:nvSpPr>
        <p:spPr>
          <a:xfrm>
            <a:off x="65050" y="3282350"/>
            <a:ext cx="426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>
                <a:latin typeface="Times New Roman"/>
                <a:ea typeface="Times New Roman"/>
                <a:cs typeface="Times New Roman"/>
                <a:sym typeface="Times New Roman"/>
              </a:rPr>
              <a:t>Due to high correlation across AUCs and high dimension,</a:t>
            </a:r>
            <a:endParaRPr sz="1600"/>
          </a:p>
        </p:txBody>
      </p:sp>
      <p:sp>
        <p:nvSpPr>
          <p:cNvPr id="216" name="Google Shape;216;p18"/>
          <p:cNvSpPr txBox="1"/>
          <p:nvPr/>
        </p:nvSpPr>
        <p:spPr>
          <a:xfrm>
            <a:off x="4922900" y="1289950"/>
            <a:ext cx="4105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100">
                <a:latin typeface="Times New Roman"/>
                <a:ea typeface="Times New Roman"/>
                <a:cs typeface="Times New Roman"/>
                <a:sym typeface="Times New Roman"/>
              </a:rPr>
              <a:t>This stabilizes and enables interpretation of intensity ranges.</a:t>
            </a:r>
            <a:endParaRPr b="1"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7" name="Google Shape;217;p18"/>
          <p:cNvSpPr/>
          <p:nvPr/>
        </p:nvSpPr>
        <p:spPr>
          <a:xfrm>
            <a:off x="4886900" y="992600"/>
            <a:ext cx="4177800" cy="615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00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8" name="Google Shape;218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221950" y="2450214"/>
            <a:ext cx="2662305" cy="615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18"/>
          <p:cNvSpPr txBox="1"/>
          <p:nvPr/>
        </p:nvSpPr>
        <p:spPr>
          <a:xfrm>
            <a:off x="4960250" y="992600"/>
            <a:ext cx="1788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300">
                <a:latin typeface="Times New Roman"/>
                <a:ea typeface="Times New Roman"/>
                <a:cs typeface="Times New Roman"/>
                <a:sym typeface="Times New Roman"/>
              </a:rPr>
              <a:t>Set</a:t>
            </a:r>
            <a:r>
              <a:rPr b="1" lang="zh-CN" sz="1300"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b="1" sz="1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20" name="Google Shape;220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887276" y="1857250"/>
            <a:ext cx="2177038" cy="4443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18"/>
          <p:cNvSpPr txBox="1"/>
          <p:nvPr/>
        </p:nvSpPr>
        <p:spPr>
          <a:xfrm>
            <a:off x="4922900" y="1588450"/>
            <a:ext cx="4105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>
                <a:latin typeface="Times New Roman"/>
                <a:ea typeface="Times New Roman"/>
                <a:cs typeface="Times New Roman"/>
                <a:sym typeface="Times New Roman"/>
              </a:rPr>
              <a:t>Substitute the piecewise-constant assumption into the original model,</a:t>
            </a:r>
            <a:endParaRPr sz="1500"/>
          </a:p>
        </p:txBody>
      </p:sp>
      <p:sp>
        <p:nvSpPr>
          <p:cNvPr id="222" name="Google Shape;222;p18"/>
          <p:cNvSpPr txBox="1"/>
          <p:nvPr/>
        </p:nvSpPr>
        <p:spPr>
          <a:xfrm>
            <a:off x="4886900" y="2514838"/>
            <a:ext cx="1788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300">
                <a:latin typeface="Times New Roman"/>
                <a:ea typeface="Times New Roman"/>
                <a:cs typeface="Times New Roman"/>
                <a:sym typeface="Times New Roman"/>
              </a:rPr>
              <a:t>Final Model</a:t>
            </a:r>
            <a:r>
              <a:rPr b="1" lang="zh-CN" sz="1300"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b="1" sz="1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3" name="Google Shape;223;p18"/>
          <p:cNvSpPr txBox="1"/>
          <p:nvPr/>
        </p:nvSpPr>
        <p:spPr>
          <a:xfrm>
            <a:off x="4886900" y="3046950"/>
            <a:ext cx="4177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100">
                <a:latin typeface="Times New Roman"/>
                <a:ea typeface="Times New Roman"/>
                <a:cs typeface="Times New Roman"/>
                <a:sym typeface="Times New Roman"/>
              </a:rPr>
              <a:t>Convert pointwise effects into segment-level effects.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4" name="Google Shape;224;p18"/>
          <p:cNvSpPr/>
          <p:nvPr/>
        </p:nvSpPr>
        <p:spPr>
          <a:xfrm>
            <a:off x="4869650" y="2336644"/>
            <a:ext cx="4212300" cy="1125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00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8"/>
          <p:cNvSpPr txBox="1"/>
          <p:nvPr/>
        </p:nvSpPr>
        <p:spPr>
          <a:xfrm>
            <a:off x="2598875" y="3755213"/>
            <a:ext cx="6865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>
                <a:solidFill>
                  <a:srgbClr val="0000E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Dimensionality reduction (J → K)</a:t>
            </a:r>
            <a:endParaRPr sz="1600">
              <a:solidFill>
                <a:srgbClr val="0000E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>
                <a:solidFill>
                  <a:srgbClr val="0000E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Improved stability by reducing multicollinearity</a:t>
            </a:r>
            <a:endParaRPr sz="1600">
              <a:solidFill>
                <a:srgbClr val="0000E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>
                <a:solidFill>
                  <a:srgbClr val="0000E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Enhanced interpretability via segment-level effects</a:t>
            </a:r>
            <a:endParaRPr sz="1600">
              <a:solidFill>
                <a:srgbClr val="0000E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6" name="Google Shape;226;p18"/>
          <p:cNvSpPr/>
          <p:nvPr/>
        </p:nvSpPr>
        <p:spPr>
          <a:xfrm>
            <a:off x="4298225" y="1981038"/>
            <a:ext cx="540600" cy="279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00E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7" name="Google Shape;227;p18"/>
          <p:cNvCxnSpPr/>
          <p:nvPr/>
        </p:nvCxnSpPr>
        <p:spPr>
          <a:xfrm flipH="1" rot="10800000">
            <a:off x="45950" y="3632875"/>
            <a:ext cx="9012000" cy="34500"/>
          </a:xfrm>
          <a:prstGeom prst="straightConnector1">
            <a:avLst/>
          </a:prstGeom>
          <a:noFill/>
          <a:ln cap="flat" cmpd="sng" w="28575">
            <a:solidFill>
              <a:srgbClr val="274483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9"/>
          <p:cNvSpPr/>
          <p:nvPr/>
        </p:nvSpPr>
        <p:spPr>
          <a:xfrm>
            <a:off x="2504100" y="4848975"/>
            <a:ext cx="4177800" cy="279300"/>
          </a:xfrm>
          <a:prstGeom prst="rect">
            <a:avLst/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9"/>
          <p:cNvSpPr txBox="1"/>
          <p:nvPr/>
        </p:nvSpPr>
        <p:spPr>
          <a:xfrm>
            <a:off x="8598600" y="4848975"/>
            <a:ext cx="7971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1/12</a:t>
            </a:r>
            <a:endParaRPr sz="15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4" name="Google Shape;234;p19"/>
          <p:cNvSpPr txBox="1"/>
          <p:nvPr/>
        </p:nvSpPr>
        <p:spPr>
          <a:xfrm>
            <a:off x="2519100" y="4788525"/>
            <a:ext cx="4105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CHL5222H: Laboratory in Statistical Design and Analysis</a:t>
            </a:r>
            <a:endParaRPr sz="12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35" name="Google Shape;23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4300" y="4421075"/>
            <a:ext cx="2139700" cy="44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19"/>
          <p:cNvSpPr txBox="1"/>
          <p:nvPr/>
        </p:nvSpPr>
        <p:spPr>
          <a:xfrm>
            <a:off x="6053100" y="484897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zh-CN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2026-04-22</a:t>
            </a:r>
            <a:endParaRPr sz="12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7" name="Google Shape;237;p19"/>
          <p:cNvSpPr/>
          <p:nvPr/>
        </p:nvSpPr>
        <p:spPr>
          <a:xfrm>
            <a:off x="6639900" y="4848975"/>
            <a:ext cx="2504100" cy="279300"/>
          </a:xfrm>
          <a:prstGeom prst="rect">
            <a:avLst/>
          </a:prstGeom>
          <a:solidFill>
            <a:srgbClr val="1C458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9"/>
          <p:cNvSpPr/>
          <p:nvPr/>
        </p:nvSpPr>
        <p:spPr>
          <a:xfrm>
            <a:off x="0" y="4848975"/>
            <a:ext cx="2504100" cy="279300"/>
          </a:xfrm>
          <a:prstGeom prst="rect">
            <a:avLst/>
          </a:prstGeom>
          <a:solidFill>
            <a:srgbClr val="0E68B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9"/>
          <p:cNvSpPr txBox="1"/>
          <p:nvPr/>
        </p:nvSpPr>
        <p:spPr>
          <a:xfrm>
            <a:off x="0" y="4803975"/>
            <a:ext cx="2504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zh-CN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Instructor: Tony Panzarella</a:t>
            </a:r>
            <a:endParaRPr sz="12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0" name="Google Shape;240;p19"/>
          <p:cNvSpPr txBox="1"/>
          <p:nvPr/>
        </p:nvSpPr>
        <p:spPr>
          <a:xfrm>
            <a:off x="6639900" y="4803975"/>
            <a:ext cx="2504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zh-CN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2026-04-23</a:t>
            </a:r>
            <a:endParaRPr sz="12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1" name="Google Shape;241;p19"/>
          <p:cNvSpPr txBox="1"/>
          <p:nvPr/>
        </p:nvSpPr>
        <p:spPr>
          <a:xfrm>
            <a:off x="8664050" y="4766475"/>
            <a:ext cx="844500" cy="4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lang="zh-CN" sz="1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/12</a:t>
            </a:r>
            <a:endParaRPr sz="15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2" name="Google Shape;242;p19"/>
          <p:cNvSpPr/>
          <p:nvPr/>
        </p:nvSpPr>
        <p:spPr>
          <a:xfrm>
            <a:off x="0" y="0"/>
            <a:ext cx="9144000" cy="444300"/>
          </a:xfrm>
          <a:prstGeom prst="rect">
            <a:avLst/>
          </a:prstGeom>
          <a:solidFill>
            <a:srgbClr val="0E68B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9"/>
          <p:cNvSpPr txBox="1"/>
          <p:nvPr/>
        </p:nvSpPr>
        <p:spPr>
          <a:xfrm>
            <a:off x="0" y="-34200"/>
            <a:ext cx="68091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Method: Optimization-Based Functional Modeling</a:t>
            </a:r>
            <a:endParaRPr sz="25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4" name="Google Shape;244;p19"/>
          <p:cNvSpPr/>
          <p:nvPr/>
        </p:nvSpPr>
        <p:spPr>
          <a:xfrm>
            <a:off x="47489" y="516000"/>
            <a:ext cx="3872400" cy="444300"/>
          </a:xfrm>
          <a:prstGeom prst="roundRect">
            <a:avLst>
              <a:gd fmla="val 16667" name="adj"/>
            </a:avLst>
          </a:prstGeom>
          <a:solidFill>
            <a:srgbClr val="0000F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9"/>
          <p:cNvSpPr txBox="1"/>
          <p:nvPr/>
        </p:nvSpPr>
        <p:spPr>
          <a:xfrm>
            <a:off x="44500" y="444300"/>
            <a:ext cx="38724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Optimization</a:t>
            </a:r>
            <a:endParaRPr sz="22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46" name="Google Shape;246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600" y="1791550"/>
            <a:ext cx="3704700" cy="797344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19"/>
          <p:cNvSpPr txBox="1"/>
          <p:nvPr/>
        </p:nvSpPr>
        <p:spPr>
          <a:xfrm>
            <a:off x="143600" y="1236663"/>
            <a:ext cx="269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>
                <a:latin typeface="Times New Roman"/>
                <a:ea typeface="Times New Roman"/>
                <a:cs typeface="Times New Roman"/>
                <a:sym typeface="Times New Roman"/>
              </a:rPr>
              <a:t>Optimization formulation: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8" name="Google Shape;248;p19"/>
          <p:cNvSpPr txBox="1"/>
          <p:nvPr/>
        </p:nvSpPr>
        <p:spPr>
          <a:xfrm>
            <a:off x="95300" y="2849975"/>
            <a:ext cx="3480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300">
                <a:latin typeface="Times New Roman"/>
                <a:ea typeface="Times New Roman"/>
                <a:cs typeface="Times New Roman"/>
                <a:sym typeface="Times New Roman"/>
              </a:rPr>
              <a:t>minimize the Residual Sum of Squares (RSS)</a:t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9" name="Google Shape;249;p19"/>
          <p:cNvSpPr txBox="1"/>
          <p:nvPr/>
        </p:nvSpPr>
        <p:spPr>
          <a:xfrm>
            <a:off x="43075" y="3495950"/>
            <a:ext cx="37047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latin typeface="Times New Roman"/>
                <a:ea typeface="Times New Roman"/>
                <a:cs typeface="Times New Roman"/>
                <a:sym typeface="Times New Roman"/>
              </a:rPr>
              <a:t>For each selected value of K,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latin typeface="Times New Roman"/>
                <a:ea typeface="Times New Roman"/>
                <a:cs typeface="Times New Roman"/>
                <a:sym typeface="Times New Roman"/>
              </a:rPr>
              <a:t>we estimate the corresponding segment specific coefficients under the segmentation constraints.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0" name="Google Shape;250;p19"/>
          <p:cNvSpPr/>
          <p:nvPr/>
        </p:nvSpPr>
        <p:spPr>
          <a:xfrm>
            <a:off x="4399109" y="514350"/>
            <a:ext cx="4611000" cy="444300"/>
          </a:xfrm>
          <a:prstGeom prst="roundRect">
            <a:avLst>
              <a:gd fmla="val 16667" name="adj"/>
            </a:avLst>
          </a:prstGeom>
          <a:solidFill>
            <a:srgbClr val="0000F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9"/>
          <p:cNvSpPr txBox="1"/>
          <p:nvPr/>
        </p:nvSpPr>
        <p:spPr>
          <a:xfrm>
            <a:off x="4395550" y="442650"/>
            <a:ext cx="46110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 Selection</a:t>
            </a:r>
            <a:endParaRPr sz="22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2" name="Google Shape;252;p19"/>
          <p:cNvSpPr txBox="1"/>
          <p:nvPr/>
        </p:nvSpPr>
        <p:spPr>
          <a:xfrm>
            <a:off x="4389625" y="994488"/>
            <a:ext cx="4744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latin typeface="Times New Roman"/>
                <a:ea typeface="Times New Roman"/>
                <a:cs typeface="Times New Roman"/>
                <a:sym typeface="Times New Roman"/>
              </a:rPr>
              <a:t>Use </a:t>
            </a:r>
            <a:r>
              <a:rPr b="1" lang="zh-CN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mixed-integer optimization</a:t>
            </a:r>
            <a:r>
              <a:rPr lang="zh-CN">
                <a:latin typeface="Times New Roman"/>
                <a:ea typeface="Times New Roman"/>
                <a:cs typeface="Times New Roman"/>
                <a:sym typeface="Times New Roman"/>
              </a:rPr>
              <a:t> to jointly determine segment membership, cutpoints, and segment-specific effects.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53" name="Google Shape;253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15412" y="2577286"/>
            <a:ext cx="4026620" cy="567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19"/>
          <p:cNvSpPr/>
          <p:nvPr/>
        </p:nvSpPr>
        <p:spPr>
          <a:xfrm>
            <a:off x="47425" y="1034175"/>
            <a:ext cx="3875400" cy="3461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00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9"/>
          <p:cNvSpPr txBox="1"/>
          <p:nvPr/>
        </p:nvSpPr>
        <p:spPr>
          <a:xfrm>
            <a:off x="4435075" y="3290200"/>
            <a:ext cx="4653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100">
                <a:latin typeface="Times New Roman"/>
                <a:ea typeface="Times New Roman"/>
                <a:cs typeface="Times New Roman"/>
                <a:sym typeface="Times New Roman"/>
              </a:rPr>
              <a:t>n: subject size (804) </a:t>
            </a:r>
            <a:endParaRPr b="1"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100">
                <a:latin typeface="Times New Roman"/>
                <a:ea typeface="Times New Roman"/>
                <a:cs typeface="Times New Roman"/>
                <a:sym typeface="Times New Roman"/>
              </a:rPr>
              <a:t>p: parameter size: (betas(K)+gamma(1)+cutpoint(K-1))</a:t>
            </a:r>
            <a:endParaRPr b="1"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6" name="Google Shape;256;p19"/>
          <p:cNvSpPr txBox="1"/>
          <p:nvPr/>
        </p:nvSpPr>
        <p:spPr>
          <a:xfrm>
            <a:off x="4435075" y="3510588"/>
            <a:ext cx="46146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>
                <a:latin typeface="Times New Roman"/>
                <a:ea typeface="Times New Roman"/>
                <a:cs typeface="Times New Roman"/>
                <a:sym typeface="Times New Roman"/>
              </a:rPr>
              <a:t>This balances model fit and model complexity: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>
                <a:latin typeface="Times New Roman"/>
                <a:ea typeface="Times New Roman"/>
                <a:cs typeface="Times New Roman"/>
                <a:sym typeface="Times New Roman"/>
              </a:rPr>
              <a:t>A larger K allows more flexibility;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zh-CN" sz="1300">
                <a:latin typeface="Times New Roman"/>
                <a:ea typeface="Times New Roman"/>
                <a:cs typeface="Times New Roman"/>
                <a:sym typeface="Times New Roman"/>
              </a:rPr>
              <a:t> smaller K leads to a simpler and more interpretable model.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7" name="Google Shape;257;p19"/>
          <p:cNvSpPr txBox="1"/>
          <p:nvPr/>
        </p:nvSpPr>
        <p:spPr>
          <a:xfrm>
            <a:off x="4435075" y="3036825"/>
            <a:ext cx="3744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 the optimal number of segments K using BIC.</a:t>
            </a:r>
            <a:endParaRPr sz="1500"/>
          </a:p>
        </p:txBody>
      </p:sp>
      <p:sp>
        <p:nvSpPr>
          <p:cNvPr id="258" name="Google Shape;258;p19"/>
          <p:cNvSpPr/>
          <p:nvPr/>
        </p:nvSpPr>
        <p:spPr>
          <a:xfrm>
            <a:off x="4386250" y="2588900"/>
            <a:ext cx="4614600" cy="18321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00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9" name="Google Shape;259;p19"/>
          <p:cNvCxnSpPr/>
          <p:nvPr/>
        </p:nvCxnSpPr>
        <p:spPr>
          <a:xfrm flipH="1">
            <a:off x="4150975" y="511075"/>
            <a:ext cx="10500" cy="4305300"/>
          </a:xfrm>
          <a:prstGeom prst="straightConnector1">
            <a:avLst/>
          </a:prstGeom>
          <a:noFill/>
          <a:ln cap="flat" cmpd="sng" w="28575">
            <a:solidFill>
              <a:srgbClr val="27448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0" name="Google Shape;260;p19"/>
          <p:cNvSpPr/>
          <p:nvPr/>
        </p:nvSpPr>
        <p:spPr>
          <a:xfrm>
            <a:off x="4389625" y="1034163"/>
            <a:ext cx="4614600" cy="1464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00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Google Shape;26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" y="2490275"/>
            <a:ext cx="1364971" cy="814625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0"/>
          <p:cNvSpPr/>
          <p:nvPr/>
        </p:nvSpPr>
        <p:spPr>
          <a:xfrm>
            <a:off x="909066" y="2578900"/>
            <a:ext cx="456000" cy="707100"/>
          </a:xfrm>
          <a:prstGeom prst="roundRect">
            <a:avLst>
              <a:gd fmla="val 16667" name="adj"/>
            </a:avLst>
          </a:prstGeom>
          <a:noFill/>
          <a:ln cap="flat" cmpd="sng" w="20550">
            <a:solidFill>
              <a:srgbClr val="0000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725" lIns="65725" spcFirstLastPara="1" rIns="65725" wrap="square" tIns="6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7"/>
          </a:p>
        </p:txBody>
      </p:sp>
      <p:sp>
        <p:nvSpPr>
          <p:cNvPr id="267" name="Google Shape;267;p20"/>
          <p:cNvSpPr/>
          <p:nvPr/>
        </p:nvSpPr>
        <p:spPr>
          <a:xfrm>
            <a:off x="2504100" y="4848975"/>
            <a:ext cx="4177800" cy="279300"/>
          </a:xfrm>
          <a:prstGeom prst="rect">
            <a:avLst/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20"/>
          <p:cNvSpPr txBox="1"/>
          <p:nvPr/>
        </p:nvSpPr>
        <p:spPr>
          <a:xfrm>
            <a:off x="8598600" y="4848975"/>
            <a:ext cx="7971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1/12</a:t>
            </a:r>
            <a:endParaRPr sz="15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9" name="Google Shape;269;p20"/>
          <p:cNvSpPr txBox="1"/>
          <p:nvPr/>
        </p:nvSpPr>
        <p:spPr>
          <a:xfrm>
            <a:off x="2519100" y="4788525"/>
            <a:ext cx="4105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CHL5222H: Laboratory in Statistical Design and Analysis</a:t>
            </a:r>
            <a:endParaRPr sz="12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70" name="Google Shape;270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04300" y="4421075"/>
            <a:ext cx="2139700" cy="44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0"/>
          <p:cNvSpPr txBox="1"/>
          <p:nvPr/>
        </p:nvSpPr>
        <p:spPr>
          <a:xfrm>
            <a:off x="6053100" y="484897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zh-CN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2026-04-22</a:t>
            </a:r>
            <a:endParaRPr sz="12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2" name="Google Shape;272;p20"/>
          <p:cNvSpPr/>
          <p:nvPr/>
        </p:nvSpPr>
        <p:spPr>
          <a:xfrm>
            <a:off x="6639900" y="4848975"/>
            <a:ext cx="2504100" cy="279300"/>
          </a:xfrm>
          <a:prstGeom prst="rect">
            <a:avLst/>
          </a:prstGeom>
          <a:solidFill>
            <a:srgbClr val="1C458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0"/>
          <p:cNvSpPr/>
          <p:nvPr/>
        </p:nvSpPr>
        <p:spPr>
          <a:xfrm>
            <a:off x="0" y="4848975"/>
            <a:ext cx="2504100" cy="279300"/>
          </a:xfrm>
          <a:prstGeom prst="rect">
            <a:avLst/>
          </a:prstGeom>
          <a:solidFill>
            <a:srgbClr val="0E68B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20"/>
          <p:cNvSpPr txBox="1"/>
          <p:nvPr/>
        </p:nvSpPr>
        <p:spPr>
          <a:xfrm>
            <a:off x="0" y="4803975"/>
            <a:ext cx="2504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zh-CN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Instructor: Tony Panzarella</a:t>
            </a:r>
            <a:endParaRPr sz="12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5" name="Google Shape;275;p20"/>
          <p:cNvSpPr txBox="1"/>
          <p:nvPr/>
        </p:nvSpPr>
        <p:spPr>
          <a:xfrm>
            <a:off x="6639900" y="4803975"/>
            <a:ext cx="2504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zh-CN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2026-04-23</a:t>
            </a:r>
            <a:endParaRPr sz="12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6" name="Google Shape;276;p20"/>
          <p:cNvSpPr txBox="1"/>
          <p:nvPr/>
        </p:nvSpPr>
        <p:spPr>
          <a:xfrm>
            <a:off x="8664050" y="4766475"/>
            <a:ext cx="844500" cy="4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lang="zh-CN" sz="1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/12</a:t>
            </a:r>
            <a:endParaRPr sz="15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7" name="Google Shape;277;p20"/>
          <p:cNvSpPr/>
          <p:nvPr/>
        </p:nvSpPr>
        <p:spPr>
          <a:xfrm>
            <a:off x="0" y="0"/>
            <a:ext cx="9144000" cy="444300"/>
          </a:xfrm>
          <a:prstGeom prst="rect">
            <a:avLst/>
          </a:prstGeom>
          <a:solidFill>
            <a:srgbClr val="0E68B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0"/>
          <p:cNvSpPr txBox="1"/>
          <p:nvPr/>
        </p:nvSpPr>
        <p:spPr>
          <a:xfrm>
            <a:off x="0" y="-34200"/>
            <a:ext cx="68091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 &amp; Discussion: Current Achievement</a:t>
            </a:r>
            <a:endParaRPr sz="25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79" name="Google Shape;279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906850"/>
            <a:ext cx="5715000" cy="166490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0"/>
          <p:cNvSpPr/>
          <p:nvPr/>
        </p:nvSpPr>
        <p:spPr>
          <a:xfrm>
            <a:off x="967282" y="1126372"/>
            <a:ext cx="515100" cy="1418700"/>
          </a:xfrm>
          <a:prstGeom prst="roundRect">
            <a:avLst>
              <a:gd fmla="val 16667" name="adj"/>
            </a:avLst>
          </a:prstGeom>
          <a:noFill/>
          <a:ln cap="flat" cmpd="sng" w="20550">
            <a:solidFill>
              <a:srgbClr val="0000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725" lIns="65725" spcFirstLastPara="1" rIns="65725" wrap="square" tIns="6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7"/>
          </a:p>
        </p:txBody>
      </p:sp>
      <p:sp>
        <p:nvSpPr>
          <p:cNvPr id="281" name="Google Shape;281;p20"/>
          <p:cNvSpPr/>
          <p:nvPr/>
        </p:nvSpPr>
        <p:spPr>
          <a:xfrm>
            <a:off x="2653408" y="1126372"/>
            <a:ext cx="515100" cy="1418700"/>
          </a:xfrm>
          <a:prstGeom prst="roundRect">
            <a:avLst>
              <a:gd fmla="val 16667" name="adj"/>
            </a:avLst>
          </a:prstGeom>
          <a:noFill/>
          <a:ln cap="flat" cmpd="sng" w="20550">
            <a:solidFill>
              <a:srgbClr val="0000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725" lIns="65725" spcFirstLastPara="1" rIns="65725" wrap="square" tIns="6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7"/>
          </a:p>
        </p:txBody>
      </p:sp>
      <p:sp>
        <p:nvSpPr>
          <p:cNvPr id="282" name="Google Shape;282;p20"/>
          <p:cNvSpPr/>
          <p:nvPr/>
        </p:nvSpPr>
        <p:spPr>
          <a:xfrm>
            <a:off x="4339534" y="1126372"/>
            <a:ext cx="515100" cy="1418700"/>
          </a:xfrm>
          <a:prstGeom prst="roundRect">
            <a:avLst>
              <a:gd fmla="val 16667" name="adj"/>
            </a:avLst>
          </a:prstGeom>
          <a:noFill/>
          <a:ln cap="flat" cmpd="sng" w="20550">
            <a:solidFill>
              <a:srgbClr val="0000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725" lIns="65725" spcFirstLastPara="1" rIns="65725" wrap="square" tIns="6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7"/>
          </a:p>
        </p:txBody>
      </p:sp>
      <p:sp>
        <p:nvSpPr>
          <p:cNvPr id="283" name="Google Shape;283;p20"/>
          <p:cNvSpPr/>
          <p:nvPr/>
        </p:nvSpPr>
        <p:spPr>
          <a:xfrm>
            <a:off x="54575" y="512700"/>
            <a:ext cx="5660400" cy="444300"/>
          </a:xfrm>
          <a:prstGeom prst="roundRect">
            <a:avLst>
              <a:gd fmla="val 16667" name="adj"/>
            </a:avLst>
          </a:prstGeom>
          <a:solidFill>
            <a:srgbClr val="0000F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20"/>
          <p:cNvSpPr txBox="1"/>
          <p:nvPr/>
        </p:nvSpPr>
        <p:spPr>
          <a:xfrm>
            <a:off x="54575" y="478500"/>
            <a:ext cx="56604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 Performance</a:t>
            </a:r>
            <a:endParaRPr sz="22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85" name="Google Shape;285;p20"/>
          <p:cNvCxnSpPr/>
          <p:nvPr/>
        </p:nvCxnSpPr>
        <p:spPr>
          <a:xfrm flipH="1">
            <a:off x="5780700" y="495300"/>
            <a:ext cx="10500" cy="4305300"/>
          </a:xfrm>
          <a:prstGeom prst="straightConnector1">
            <a:avLst/>
          </a:prstGeom>
          <a:noFill/>
          <a:ln cap="flat" cmpd="sng" w="28575">
            <a:solidFill>
              <a:srgbClr val="27448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6" name="Google Shape;286;p20"/>
          <p:cNvSpPr/>
          <p:nvPr/>
        </p:nvSpPr>
        <p:spPr>
          <a:xfrm>
            <a:off x="5867400" y="512700"/>
            <a:ext cx="3236400" cy="444300"/>
          </a:xfrm>
          <a:prstGeom prst="roundRect">
            <a:avLst>
              <a:gd fmla="val 16667" name="adj"/>
            </a:avLst>
          </a:prstGeom>
          <a:solidFill>
            <a:srgbClr val="0000F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20"/>
          <p:cNvSpPr txBox="1"/>
          <p:nvPr/>
        </p:nvSpPr>
        <p:spPr>
          <a:xfrm>
            <a:off x="5867400" y="478500"/>
            <a:ext cx="32364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 </a:t>
            </a:r>
            <a:r>
              <a:rPr lang="zh-CN" sz="2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Interpretion</a:t>
            </a:r>
            <a:endParaRPr sz="22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8" name="Google Shape;288;p20"/>
          <p:cNvSpPr txBox="1"/>
          <p:nvPr/>
        </p:nvSpPr>
        <p:spPr>
          <a:xfrm>
            <a:off x="0" y="3386100"/>
            <a:ext cx="58674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latin typeface="Times New Roman"/>
                <a:ea typeface="Times New Roman"/>
                <a:cs typeface="Times New Roman"/>
                <a:sym typeface="Times New Roman"/>
              </a:rPr>
              <a:t>• </a:t>
            </a:r>
            <a:r>
              <a:rPr b="1" lang="zh-CN">
                <a:latin typeface="Times New Roman"/>
                <a:ea typeface="Times New Roman"/>
                <a:cs typeface="Times New Roman"/>
                <a:sym typeface="Times New Roman"/>
              </a:rPr>
              <a:t>Below</a:t>
            </a:r>
            <a:r>
              <a:rPr lang="zh-CN">
                <a:latin typeface="Times New Roman"/>
                <a:ea typeface="Times New Roman"/>
                <a:cs typeface="Times New Roman"/>
                <a:sym typeface="Times New Roman"/>
              </a:rPr>
              <a:t> this </a:t>
            </a:r>
            <a:r>
              <a:rPr lang="zh-CN">
                <a:latin typeface="Times New Roman"/>
                <a:ea typeface="Times New Roman"/>
                <a:cs typeface="Times New Roman"/>
                <a:sym typeface="Times New Roman"/>
              </a:rPr>
              <a:t>cutpoint:</a:t>
            </a:r>
            <a:r>
              <a:rPr lang="zh-CN">
                <a:latin typeface="Times New Roman"/>
                <a:ea typeface="Times New Roman"/>
                <a:cs typeface="Times New Roman"/>
                <a:sym typeface="Times New Roman"/>
              </a:rPr>
              <a:t> activity has a </a:t>
            </a:r>
            <a:r>
              <a:rPr b="1" lang="zh-CN">
                <a:latin typeface="Times New Roman"/>
                <a:ea typeface="Times New Roman"/>
                <a:cs typeface="Times New Roman"/>
                <a:sym typeface="Times New Roman"/>
              </a:rPr>
              <a:t>positive</a:t>
            </a:r>
            <a:r>
              <a:rPr b="1" lang="zh-CN">
                <a:latin typeface="Times New Roman"/>
                <a:ea typeface="Times New Roman"/>
                <a:cs typeface="Times New Roman"/>
                <a:sym typeface="Times New Roman"/>
              </a:rPr>
              <a:t>ly</a:t>
            </a:r>
            <a:r>
              <a:rPr lang="zh-CN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zh-CN">
                <a:latin typeface="Times New Roman"/>
                <a:ea typeface="Times New Roman"/>
                <a:cs typeface="Times New Roman"/>
                <a:sym typeface="Times New Roman"/>
              </a:rPr>
              <a:t>associated with</a:t>
            </a:r>
            <a:r>
              <a:rPr lang="zh-CN">
                <a:latin typeface="Times New Roman"/>
                <a:ea typeface="Times New Roman"/>
                <a:cs typeface="Times New Roman"/>
                <a:sym typeface="Times New Roman"/>
              </a:rPr>
              <a:t> the outcome.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latin typeface="Times New Roman"/>
                <a:ea typeface="Times New Roman"/>
                <a:cs typeface="Times New Roman"/>
                <a:sym typeface="Times New Roman"/>
              </a:rPr>
              <a:t>• </a:t>
            </a:r>
            <a:r>
              <a:rPr b="1" lang="zh-CN">
                <a:latin typeface="Times New Roman"/>
                <a:ea typeface="Times New Roman"/>
                <a:cs typeface="Times New Roman"/>
                <a:sym typeface="Times New Roman"/>
              </a:rPr>
              <a:t>Above</a:t>
            </a:r>
            <a:r>
              <a:rPr lang="zh-CN">
                <a:latin typeface="Times New Roman"/>
                <a:ea typeface="Times New Roman"/>
                <a:cs typeface="Times New Roman"/>
                <a:sym typeface="Times New Roman"/>
              </a:rPr>
              <a:t> this </a:t>
            </a:r>
            <a:r>
              <a:rPr lang="zh-CN">
                <a:latin typeface="Times New Roman"/>
                <a:ea typeface="Times New Roman"/>
                <a:cs typeface="Times New Roman"/>
                <a:sym typeface="Times New Roman"/>
              </a:rPr>
              <a:t>cutpoint:</a:t>
            </a:r>
            <a:r>
              <a:rPr lang="zh-CN">
                <a:latin typeface="Times New Roman"/>
                <a:ea typeface="Times New Roman"/>
                <a:cs typeface="Times New Roman"/>
                <a:sym typeface="Times New Roman"/>
              </a:rPr>
              <a:t> the </a:t>
            </a:r>
            <a:r>
              <a:rPr lang="zh-C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association</a:t>
            </a:r>
            <a:r>
              <a:rPr lang="zh-CN">
                <a:latin typeface="Times New Roman"/>
                <a:ea typeface="Times New Roman"/>
                <a:cs typeface="Times New Roman"/>
                <a:sym typeface="Times New Roman"/>
              </a:rPr>
              <a:t> becomes </a:t>
            </a:r>
            <a:r>
              <a:rPr b="1" lang="zh-CN">
                <a:latin typeface="Times New Roman"/>
                <a:ea typeface="Times New Roman"/>
                <a:cs typeface="Times New Roman"/>
                <a:sym typeface="Times New Roman"/>
              </a:rPr>
              <a:t>slightly negative (</a:t>
            </a:r>
            <a:r>
              <a:rPr b="1" lang="zh-CN">
                <a:latin typeface="Times New Roman"/>
                <a:ea typeface="Times New Roman"/>
                <a:cs typeface="Times New Roman"/>
                <a:sym typeface="Times New Roman"/>
              </a:rPr>
              <a:t>negligible</a:t>
            </a:r>
            <a:r>
              <a:rPr b="1" lang="zh-CN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zh-CN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latin typeface="Times New Roman"/>
                <a:ea typeface="Times New Roman"/>
                <a:cs typeface="Times New Roman"/>
                <a:sym typeface="Times New Roman"/>
              </a:rPr>
              <a:t>• This suggests that the association is concentrated in </a:t>
            </a:r>
            <a:r>
              <a:rPr b="1" lang="zh-CN">
                <a:latin typeface="Times New Roman"/>
                <a:ea typeface="Times New Roman"/>
                <a:cs typeface="Times New Roman"/>
                <a:sym typeface="Times New Roman"/>
              </a:rPr>
              <a:t>lower intensity ranges</a:t>
            </a:r>
            <a:r>
              <a:rPr lang="zh-CN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9" name="Google Shape;289;p20"/>
          <p:cNvSpPr txBox="1"/>
          <p:nvPr/>
        </p:nvSpPr>
        <p:spPr>
          <a:xfrm>
            <a:off x="1371600" y="2590800"/>
            <a:ext cx="44958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A </a:t>
            </a:r>
            <a:r>
              <a:rPr b="1" lang="zh-C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two-segment</a:t>
            </a:r>
            <a:r>
              <a:rPr lang="zh-C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model: consistent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The cutpoint: approximately </a:t>
            </a:r>
            <a:r>
              <a:rPr b="1" lang="zh-C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18%</a:t>
            </a:r>
            <a:r>
              <a:rPr lang="zh-C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the intensity range.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0" name="Google Shape;290;p20"/>
          <p:cNvSpPr txBox="1"/>
          <p:nvPr/>
        </p:nvSpPr>
        <p:spPr>
          <a:xfrm>
            <a:off x="5791200" y="990600"/>
            <a:ext cx="3352800" cy="33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latin typeface="Times New Roman"/>
                <a:ea typeface="Times New Roman"/>
                <a:cs typeface="Times New Roman"/>
                <a:sym typeface="Times New Roman"/>
              </a:rPr>
              <a:t>• The association between activity intensity and joint health is primarily driven by </a:t>
            </a:r>
            <a:r>
              <a:rPr b="1" lang="zh-CN">
                <a:latin typeface="Times New Roman"/>
                <a:ea typeface="Times New Roman"/>
                <a:cs typeface="Times New Roman"/>
                <a:sym typeface="Times New Roman"/>
              </a:rPr>
              <a:t>lower intensity activity</a:t>
            </a:r>
            <a:r>
              <a:rPr lang="zh-CN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latin typeface="Times New Roman"/>
                <a:ea typeface="Times New Roman"/>
                <a:cs typeface="Times New Roman"/>
                <a:sym typeface="Times New Roman"/>
              </a:rPr>
              <a:t>• Engaging in </a:t>
            </a:r>
            <a:r>
              <a:rPr b="1" lang="zh-CN">
                <a:latin typeface="Times New Roman"/>
                <a:ea typeface="Times New Roman"/>
                <a:cs typeface="Times New Roman"/>
                <a:sym typeface="Times New Roman"/>
              </a:rPr>
              <a:t>light to moderate</a:t>
            </a:r>
            <a:r>
              <a:rPr lang="zh-CN">
                <a:latin typeface="Times New Roman"/>
                <a:ea typeface="Times New Roman"/>
                <a:cs typeface="Times New Roman"/>
                <a:sym typeface="Times New Roman"/>
              </a:rPr>
              <a:t> activity is more strongly associated with maintaining joint space, which reflects healthier cartilage and less structural degeneration.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latin typeface="Times New Roman"/>
                <a:ea typeface="Times New Roman"/>
                <a:cs typeface="Times New Roman"/>
                <a:sym typeface="Times New Roman"/>
              </a:rPr>
              <a:t>• Increasing activity intensity </a:t>
            </a:r>
            <a:r>
              <a:rPr b="1" lang="zh-CN">
                <a:latin typeface="Times New Roman"/>
                <a:ea typeface="Times New Roman"/>
                <a:cs typeface="Times New Roman"/>
                <a:sym typeface="Times New Roman"/>
              </a:rPr>
              <a:t>beyond</a:t>
            </a:r>
            <a:r>
              <a:rPr lang="zh-CN">
                <a:latin typeface="Times New Roman"/>
                <a:ea typeface="Times New Roman"/>
                <a:cs typeface="Times New Roman"/>
                <a:sym typeface="Times New Roman"/>
              </a:rPr>
              <a:t> the identified cutpoint </a:t>
            </a:r>
            <a:r>
              <a:rPr b="1" lang="zh-CN">
                <a:latin typeface="Times New Roman"/>
                <a:ea typeface="Times New Roman"/>
                <a:cs typeface="Times New Roman"/>
                <a:sym typeface="Times New Roman"/>
              </a:rPr>
              <a:t>does not</a:t>
            </a:r>
            <a:r>
              <a:rPr lang="zh-CN">
                <a:latin typeface="Times New Roman"/>
                <a:ea typeface="Times New Roman"/>
                <a:cs typeface="Times New Roman"/>
                <a:sym typeface="Times New Roman"/>
              </a:rPr>
              <a:t> appear to provide additional benefit for joint health.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1"/>
          <p:cNvSpPr/>
          <p:nvPr/>
        </p:nvSpPr>
        <p:spPr>
          <a:xfrm>
            <a:off x="2504100" y="4848975"/>
            <a:ext cx="4177800" cy="279300"/>
          </a:xfrm>
          <a:prstGeom prst="rect">
            <a:avLst/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21"/>
          <p:cNvSpPr txBox="1"/>
          <p:nvPr/>
        </p:nvSpPr>
        <p:spPr>
          <a:xfrm>
            <a:off x="8598600" y="4848975"/>
            <a:ext cx="7971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1/12</a:t>
            </a:r>
            <a:endParaRPr sz="15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7" name="Google Shape;297;p21"/>
          <p:cNvSpPr txBox="1"/>
          <p:nvPr/>
        </p:nvSpPr>
        <p:spPr>
          <a:xfrm>
            <a:off x="2519100" y="4788525"/>
            <a:ext cx="4105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CHL5222H: Laboratory in Statistical Design and Analysis</a:t>
            </a:r>
            <a:endParaRPr sz="12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98" name="Google Shape;29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4300" y="4421075"/>
            <a:ext cx="2139700" cy="44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1"/>
          <p:cNvSpPr txBox="1"/>
          <p:nvPr/>
        </p:nvSpPr>
        <p:spPr>
          <a:xfrm>
            <a:off x="6053100" y="484897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zh-CN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2026-04-22</a:t>
            </a:r>
            <a:endParaRPr sz="12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0" name="Google Shape;300;p21"/>
          <p:cNvSpPr/>
          <p:nvPr/>
        </p:nvSpPr>
        <p:spPr>
          <a:xfrm>
            <a:off x="6639900" y="4848975"/>
            <a:ext cx="2504100" cy="279300"/>
          </a:xfrm>
          <a:prstGeom prst="rect">
            <a:avLst/>
          </a:prstGeom>
          <a:solidFill>
            <a:srgbClr val="1C458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21"/>
          <p:cNvSpPr/>
          <p:nvPr/>
        </p:nvSpPr>
        <p:spPr>
          <a:xfrm>
            <a:off x="0" y="4848975"/>
            <a:ext cx="2504100" cy="279300"/>
          </a:xfrm>
          <a:prstGeom prst="rect">
            <a:avLst/>
          </a:prstGeom>
          <a:solidFill>
            <a:srgbClr val="0E68B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21"/>
          <p:cNvSpPr txBox="1"/>
          <p:nvPr/>
        </p:nvSpPr>
        <p:spPr>
          <a:xfrm>
            <a:off x="0" y="4803975"/>
            <a:ext cx="2504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zh-CN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Instructor: Tony Panzarella</a:t>
            </a:r>
            <a:endParaRPr sz="12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3" name="Google Shape;303;p21"/>
          <p:cNvSpPr txBox="1"/>
          <p:nvPr/>
        </p:nvSpPr>
        <p:spPr>
          <a:xfrm>
            <a:off x="6639900" y="4803975"/>
            <a:ext cx="2504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zh-CN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2026-04-23</a:t>
            </a:r>
            <a:endParaRPr sz="12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4" name="Google Shape;304;p21"/>
          <p:cNvSpPr txBox="1"/>
          <p:nvPr/>
        </p:nvSpPr>
        <p:spPr>
          <a:xfrm>
            <a:off x="8664050" y="4766475"/>
            <a:ext cx="844500" cy="4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r>
              <a:rPr lang="zh-CN" sz="1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/12</a:t>
            </a:r>
            <a:endParaRPr sz="15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5" name="Google Shape;305;p21"/>
          <p:cNvSpPr/>
          <p:nvPr/>
        </p:nvSpPr>
        <p:spPr>
          <a:xfrm>
            <a:off x="0" y="0"/>
            <a:ext cx="9144000" cy="444300"/>
          </a:xfrm>
          <a:prstGeom prst="rect">
            <a:avLst/>
          </a:prstGeom>
          <a:solidFill>
            <a:srgbClr val="0E68B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21"/>
          <p:cNvSpPr txBox="1"/>
          <p:nvPr/>
        </p:nvSpPr>
        <p:spPr>
          <a:xfrm>
            <a:off x="0" y="-34200"/>
            <a:ext cx="68091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 &amp; Discussion: Current Achievement</a:t>
            </a:r>
            <a:endParaRPr sz="25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7" name="Google Shape;307;p21"/>
          <p:cNvSpPr/>
          <p:nvPr/>
        </p:nvSpPr>
        <p:spPr>
          <a:xfrm>
            <a:off x="54575" y="512700"/>
            <a:ext cx="9023700" cy="444300"/>
          </a:xfrm>
          <a:prstGeom prst="roundRect">
            <a:avLst>
              <a:gd fmla="val 16667" name="adj"/>
            </a:avLst>
          </a:prstGeom>
          <a:solidFill>
            <a:srgbClr val="0000F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21"/>
          <p:cNvSpPr txBox="1"/>
          <p:nvPr/>
        </p:nvSpPr>
        <p:spPr>
          <a:xfrm>
            <a:off x="54575" y="478500"/>
            <a:ext cx="90237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Permutation Test</a:t>
            </a:r>
            <a:endParaRPr sz="22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09" name="Google Shape;309;p21"/>
          <p:cNvCxnSpPr/>
          <p:nvPr/>
        </p:nvCxnSpPr>
        <p:spPr>
          <a:xfrm flipH="1">
            <a:off x="6397050" y="1085100"/>
            <a:ext cx="18000" cy="3676800"/>
          </a:xfrm>
          <a:prstGeom prst="straightConnector1">
            <a:avLst/>
          </a:prstGeom>
          <a:noFill/>
          <a:ln cap="flat" cmpd="sng" w="28575">
            <a:solidFill>
              <a:srgbClr val="27448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0" name="Google Shape;310;p21"/>
          <p:cNvSpPr/>
          <p:nvPr/>
        </p:nvSpPr>
        <p:spPr>
          <a:xfrm>
            <a:off x="6487500" y="1025388"/>
            <a:ext cx="2590800" cy="444300"/>
          </a:xfrm>
          <a:prstGeom prst="roundRect">
            <a:avLst>
              <a:gd fmla="val 16667" name="adj"/>
            </a:avLst>
          </a:prstGeom>
          <a:solidFill>
            <a:srgbClr val="0000F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1"/>
          <p:cNvSpPr txBox="1"/>
          <p:nvPr/>
        </p:nvSpPr>
        <p:spPr>
          <a:xfrm>
            <a:off x="6487500" y="991188"/>
            <a:ext cx="25908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 </a:t>
            </a:r>
            <a:r>
              <a:rPr lang="zh-CN" sz="2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</a:t>
            </a:r>
            <a:endParaRPr sz="22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2" name="Google Shape;312;p21"/>
          <p:cNvSpPr txBox="1"/>
          <p:nvPr/>
        </p:nvSpPr>
        <p:spPr>
          <a:xfrm>
            <a:off x="76200" y="971400"/>
            <a:ext cx="635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>
                <a:latin typeface="Times New Roman"/>
                <a:ea typeface="Times New Roman"/>
                <a:cs typeface="Times New Roman"/>
                <a:sym typeface="Times New Roman"/>
              </a:rPr>
              <a:t>Null hypothesis</a:t>
            </a:r>
            <a:r>
              <a:rPr lang="zh-CN">
                <a:latin typeface="Times New Roman"/>
                <a:ea typeface="Times New Roman"/>
                <a:cs typeface="Times New Roman"/>
                <a:sym typeface="Times New Roman"/>
              </a:rPr>
              <a:t>: The two-segment model is </a:t>
            </a:r>
            <a:r>
              <a:rPr lang="zh-CN">
                <a:latin typeface="Times New Roman"/>
                <a:ea typeface="Times New Roman"/>
                <a:cs typeface="Times New Roman"/>
                <a:sym typeface="Times New Roman"/>
              </a:rPr>
              <a:t>unnecessary:               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13" name="Google Shape;313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371600"/>
            <a:ext cx="29718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526" y="2140500"/>
            <a:ext cx="2962274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0" y="2743200"/>
            <a:ext cx="22098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-1" y="3351000"/>
            <a:ext cx="3124201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1"/>
          <p:cNvSpPr txBox="1"/>
          <p:nvPr/>
        </p:nvSpPr>
        <p:spPr>
          <a:xfrm>
            <a:off x="2819400" y="1305600"/>
            <a:ext cx="3657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>
                <a:latin typeface="Times New Roman"/>
                <a:ea typeface="Times New Roman"/>
                <a:cs typeface="Times New Roman"/>
                <a:sym typeface="Times New Roman"/>
              </a:rPr>
              <a:t>measures how much the two-segment model (K=2) improves over the one-segment model (K=1) for observed data.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8" name="Google Shape;318;p21"/>
          <p:cNvSpPr/>
          <p:nvPr/>
        </p:nvSpPr>
        <p:spPr>
          <a:xfrm>
            <a:off x="0" y="1371600"/>
            <a:ext cx="6400800" cy="381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00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21"/>
          <p:cNvSpPr txBox="1"/>
          <p:nvPr/>
        </p:nvSpPr>
        <p:spPr>
          <a:xfrm>
            <a:off x="76200" y="1676400"/>
            <a:ext cx="6248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>
                <a:latin typeface="Times New Roman"/>
                <a:ea typeface="Times New Roman"/>
                <a:cs typeface="Times New Roman"/>
                <a:sym typeface="Times New Roman"/>
              </a:rPr>
              <a:t>In each permutation, we randomly shuffle JSW while keeping AUC fixed, creating a dataset with no association between activity and the outcome.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0" name="Google Shape;320;p21"/>
          <p:cNvSpPr txBox="1"/>
          <p:nvPr/>
        </p:nvSpPr>
        <p:spPr>
          <a:xfrm>
            <a:off x="2895600" y="2133600"/>
            <a:ext cx="3581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>
                <a:latin typeface="Times New Roman"/>
                <a:ea typeface="Times New Roman"/>
                <a:cs typeface="Times New Roman"/>
                <a:sym typeface="Times New Roman"/>
              </a:rPr>
              <a:t>is the improvement of the two-segment model over the one-segment model computed on the b-th permuted dataset.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1" name="Google Shape;321;p21"/>
          <p:cNvSpPr/>
          <p:nvPr/>
        </p:nvSpPr>
        <p:spPr>
          <a:xfrm>
            <a:off x="0" y="2199600"/>
            <a:ext cx="6400800" cy="381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00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21"/>
          <p:cNvSpPr txBox="1"/>
          <p:nvPr/>
        </p:nvSpPr>
        <p:spPr>
          <a:xfrm>
            <a:off x="2209800" y="2667000"/>
            <a:ext cx="4191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>
                <a:latin typeface="Times New Roman"/>
                <a:ea typeface="Times New Roman"/>
                <a:cs typeface="Times New Roman"/>
                <a:sym typeface="Times New Roman"/>
              </a:rPr>
              <a:t>Repeating this process B times produces a set of ΔBIC values that form the null distribution under no association.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3" name="Google Shape;323;p21"/>
          <p:cNvSpPr/>
          <p:nvPr/>
        </p:nvSpPr>
        <p:spPr>
          <a:xfrm>
            <a:off x="0" y="2733000"/>
            <a:ext cx="6400800" cy="381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00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21"/>
          <p:cNvSpPr txBox="1"/>
          <p:nvPr/>
        </p:nvSpPr>
        <p:spPr>
          <a:xfrm>
            <a:off x="2943600" y="3200400"/>
            <a:ext cx="34572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Here, the indicator function counts how often the permuted ΔBIC exceeds the observed ΔBIC.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>
                <a:latin typeface="Times New Roman"/>
                <a:ea typeface="Times New Roman"/>
                <a:cs typeface="Times New Roman"/>
                <a:sym typeface="Times New Roman"/>
              </a:rPr>
              <a:t>The p-value is computed as the proportion of permuted datasets where the improvement in model fit (ΔBIC) is at least as large as that observed in the original data. 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5" name="Google Shape;325;p21"/>
          <p:cNvSpPr/>
          <p:nvPr/>
        </p:nvSpPr>
        <p:spPr>
          <a:xfrm>
            <a:off x="0" y="3274800"/>
            <a:ext cx="6400800" cy="1143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00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326" name="Google Shape;326;p21"/>
          <p:cNvGraphicFramePr/>
          <p:nvPr/>
        </p:nvGraphicFramePr>
        <p:xfrm>
          <a:off x="6487500" y="16259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{AD6FA5CA-3BA7-48AB-8108-7B984188D8BE}</a:tableStyleId>
              </a:tblPr>
              <a:tblGrid>
                <a:gridCol w="1371000"/>
                <a:gridCol w="1175275"/>
              </a:tblGrid>
              <a:tr h="139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C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Permutaed number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C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P-value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5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 = 50</a:t>
                      </a:r>
                      <a:endParaRPr sz="1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0.0196</a:t>
                      </a:r>
                      <a:endParaRPr sz="10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5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 = 80</a:t>
                      </a:r>
                      <a:endParaRPr sz="1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0.0123</a:t>
                      </a:r>
                      <a:endParaRPr sz="10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5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 = 100</a:t>
                      </a:r>
                      <a:endParaRPr sz="1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0.0099</a:t>
                      </a:r>
                      <a:endParaRPr sz="10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27" name="Google Shape;327;p21"/>
          <p:cNvSpPr txBox="1"/>
          <p:nvPr/>
        </p:nvSpPr>
        <p:spPr>
          <a:xfrm>
            <a:off x="6487500" y="2963200"/>
            <a:ext cx="26952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>
                <a:latin typeface="Times New Roman"/>
                <a:ea typeface="Times New Roman"/>
                <a:cs typeface="Times New Roman"/>
                <a:sym typeface="Times New Roman"/>
              </a:rPr>
              <a:t>• Improvement of K=2 over K=1 is </a:t>
            </a:r>
            <a:r>
              <a:rPr b="1" lang="zh-CN" sz="1300">
                <a:latin typeface="Times New Roman"/>
                <a:ea typeface="Times New Roman"/>
                <a:cs typeface="Times New Roman"/>
                <a:sym typeface="Times New Roman"/>
              </a:rPr>
              <a:t>statistically significant</a:t>
            </a:r>
            <a:r>
              <a:rPr lang="zh-CN" sz="13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The null hypothesis is evidently </a:t>
            </a:r>
            <a:r>
              <a:rPr b="1" lang="zh-C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rejected</a:t>
            </a:r>
            <a:r>
              <a:rPr lang="zh-C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>
                <a:latin typeface="Times New Roman"/>
                <a:ea typeface="Times New Roman"/>
                <a:cs typeface="Times New Roman"/>
                <a:sym typeface="Times New Roman"/>
              </a:rPr>
              <a:t>• </a:t>
            </a:r>
            <a:r>
              <a:rPr lang="zh-CN" sz="1300">
                <a:latin typeface="Times New Roman"/>
                <a:ea typeface="Times New Roman"/>
                <a:cs typeface="Times New Roman"/>
                <a:sym typeface="Times New Roman"/>
              </a:rPr>
              <a:t>The permutation test </a:t>
            </a:r>
            <a:r>
              <a:rPr b="1" lang="zh-CN" sz="1300">
                <a:latin typeface="Times New Roman"/>
                <a:ea typeface="Times New Roman"/>
                <a:cs typeface="Times New Roman"/>
                <a:sym typeface="Times New Roman"/>
              </a:rPr>
              <a:t>supports</a:t>
            </a:r>
            <a:r>
              <a:rPr lang="zh-CN" sz="1300">
                <a:latin typeface="Times New Roman"/>
                <a:ea typeface="Times New Roman"/>
                <a:cs typeface="Times New Roman"/>
                <a:sym typeface="Times New Roman"/>
              </a:rPr>
              <a:t> the </a:t>
            </a:r>
            <a:r>
              <a:rPr b="1" lang="zh-CN" sz="1300">
                <a:latin typeface="Times New Roman"/>
                <a:ea typeface="Times New Roman"/>
                <a:cs typeface="Times New Roman"/>
                <a:sym typeface="Times New Roman"/>
              </a:rPr>
              <a:t>two-segment</a:t>
            </a:r>
            <a:r>
              <a:rPr lang="zh-CN" sz="1300">
                <a:latin typeface="Times New Roman"/>
                <a:ea typeface="Times New Roman"/>
                <a:cs typeface="Times New Roman"/>
                <a:sym typeface="Times New Roman"/>
              </a:rPr>
              <a:t> model structure.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28" name="Google Shape;328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343005" y="1013850"/>
            <a:ext cx="610396" cy="30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2"/>
          <p:cNvSpPr/>
          <p:nvPr/>
        </p:nvSpPr>
        <p:spPr>
          <a:xfrm>
            <a:off x="2504100" y="4848975"/>
            <a:ext cx="4177800" cy="279300"/>
          </a:xfrm>
          <a:prstGeom prst="rect">
            <a:avLst/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22"/>
          <p:cNvSpPr txBox="1"/>
          <p:nvPr/>
        </p:nvSpPr>
        <p:spPr>
          <a:xfrm>
            <a:off x="8598600" y="4848975"/>
            <a:ext cx="7971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1/12</a:t>
            </a:r>
            <a:endParaRPr sz="15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5" name="Google Shape;335;p22"/>
          <p:cNvSpPr txBox="1"/>
          <p:nvPr/>
        </p:nvSpPr>
        <p:spPr>
          <a:xfrm>
            <a:off x="2519100" y="4788525"/>
            <a:ext cx="4105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CHL5222H: Laboratory in Statistical Design and Analysis</a:t>
            </a:r>
            <a:endParaRPr sz="12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36" name="Google Shape;33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4300" y="4421075"/>
            <a:ext cx="2139700" cy="44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22"/>
          <p:cNvSpPr txBox="1"/>
          <p:nvPr/>
        </p:nvSpPr>
        <p:spPr>
          <a:xfrm>
            <a:off x="6053100" y="484897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zh-CN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2026-04-22</a:t>
            </a:r>
            <a:endParaRPr sz="12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8" name="Google Shape;338;p22"/>
          <p:cNvSpPr/>
          <p:nvPr/>
        </p:nvSpPr>
        <p:spPr>
          <a:xfrm>
            <a:off x="6639900" y="4848975"/>
            <a:ext cx="2504100" cy="279300"/>
          </a:xfrm>
          <a:prstGeom prst="rect">
            <a:avLst/>
          </a:prstGeom>
          <a:solidFill>
            <a:srgbClr val="1C458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22"/>
          <p:cNvSpPr/>
          <p:nvPr/>
        </p:nvSpPr>
        <p:spPr>
          <a:xfrm>
            <a:off x="0" y="4848975"/>
            <a:ext cx="2504100" cy="279300"/>
          </a:xfrm>
          <a:prstGeom prst="rect">
            <a:avLst/>
          </a:prstGeom>
          <a:solidFill>
            <a:srgbClr val="0E68B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22"/>
          <p:cNvSpPr txBox="1"/>
          <p:nvPr/>
        </p:nvSpPr>
        <p:spPr>
          <a:xfrm>
            <a:off x="0" y="4803975"/>
            <a:ext cx="2504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zh-CN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Instructor: Tony Panzarella</a:t>
            </a:r>
            <a:endParaRPr sz="12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1" name="Google Shape;341;p22"/>
          <p:cNvSpPr txBox="1"/>
          <p:nvPr/>
        </p:nvSpPr>
        <p:spPr>
          <a:xfrm>
            <a:off x="6639900" y="4803975"/>
            <a:ext cx="2504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zh-CN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2026-04-23</a:t>
            </a:r>
            <a:endParaRPr sz="12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2" name="Google Shape;342;p22"/>
          <p:cNvSpPr txBox="1"/>
          <p:nvPr/>
        </p:nvSpPr>
        <p:spPr>
          <a:xfrm>
            <a:off x="8574900" y="4766475"/>
            <a:ext cx="844500" cy="4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10/12</a:t>
            </a:r>
            <a:endParaRPr sz="15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3" name="Google Shape;343;p22"/>
          <p:cNvSpPr/>
          <p:nvPr/>
        </p:nvSpPr>
        <p:spPr>
          <a:xfrm>
            <a:off x="0" y="0"/>
            <a:ext cx="9144000" cy="444300"/>
          </a:xfrm>
          <a:prstGeom prst="rect">
            <a:avLst/>
          </a:prstGeom>
          <a:solidFill>
            <a:srgbClr val="0E68B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22"/>
          <p:cNvSpPr txBox="1"/>
          <p:nvPr/>
        </p:nvSpPr>
        <p:spPr>
          <a:xfrm>
            <a:off x="0" y="-34200"/>
            <a:ext cx="68091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 &amp; Discussion: </a:t>
            </a:r>
            <a:r>
              <a:rPr lang="zh-CN" sz="2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Arrangement</a:t>
            </a:r>
            <a:endParaRPr sz="25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3"/>
          <p:cNvSpPr/>
          <p:nvPr/>
        </p:nvSpPr>
        <p:spPr>
          <a:xfrm>
            <a:off x="2504100" y="4848975"/>
            <a:ext cx="4177800" cy="279300"/>
          </a:xfrm>
          <a:prstGeom prst="rect">
            <a:avLst/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23"/>
          <p:cNvSpPr txBox="1"/>
          <p:nvPr/>
        </p:nvSpPr>
        <p:spPr>
          <a:xfrm>
            <a:off x="8598600" y="4848975"/>
            <a:ext cx="7971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1/12</a:t>
            </a:r>
            <a:endParaRPr sz="15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1" name="Google Shape;351;p23"/>
          <p:cNvSpPr txBox="1"/>
          <p:nvPr/>
        </p:nvSpPr>
        <p:spPr>
          <a:xfrm>
            <a:off x="2519100" y="4788525"/>
            <a:ext cx="4105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CHL5222H: Laboratory in Statistical Design and Analysis</a:t>
            </a:r>
            <a:endParaRPr sz="12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52" name="Google Shape;35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4300" y="4421075"/>
            <a:ext cx="2139700" cy="44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23"/>
          <p:cNvSpPr txBox="1"/>
          <p:nvPr/>
        </p:nvSpPr>
        <p:spPr>
          <a:xfrm>
            <a:off x="6053100" y="484897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zh-CN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2026-04-22</a:t>
            </a:r>
            <a:endParaRPr sz="12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4" name="Google Shape;354;p23"/>
          <p:cNvSpPr/>
          <p:nvPr/>
        </p:nvSpPr>
        <p:spPr>
          <a:xfrm>
            <a:off x="6639900" y="4848975"/>
            <a:ext cx="2504100" cy="279300"/>
          </a:xfrm>
          <a:prstGeom prst="rect">
            <a:avLst/>
          </a:prstGeom>
          <a:solidFill>
            <a:srgbClr val="1C458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23"/>
          <p:cNvSpPr/>
          <p:nvPr/>
        </p:nvSpPr>
        <p:spPr>
          <a:xfrm>
            <a:off x="0" y="4848975"/>
            <a:ext cx="2504100" cy="279300"/>
          </a:xfrm>
          <a:prstGeom prst="rect">
            <a:avLst/>
          </a:prstGeom>
          <a:solidFill>
            <a:srgbClr val="0E68B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23"/>
          <p:cNvSpPr txBox="1"/>
          <p:nvPr/>
        </p:nvSpPr>
        <p:spPr>
          <a:xfrm>
            <a:off x="0" y="4803975"/>
            <a:ext cx="2504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zh-CN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Instructor: Tony Panzarella</a:t>
            </a:r>
            <a:endParaRPr sz="12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7" name="Google Shape;357;p23"/>
          <p:cNvSpPr txBox="1"/>
          <p:nvPr/>
        </p:nvSpPr>
        <p:spPr>
          <a:xfrm>
            <a:off x="6639900" y="4803975"/>
            <a:ext cx="2504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zh-CN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2026-04-23</a:t>
            </a:r>
            <a:endParaRPr sz="12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8" name="Google Shape;358;p23"/>
          <p:cNvSpPr txBox="1"/>
          <p:nvPr/>
        </p:nvSpPr>
        <p:spPr>
          <a:xfrm>
            <a:off x="8574900" y="4766475"/>
            <a:ext cx="844500" cy="4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11/12</a:t>
            </a:r>
            <a:endParaRPr sz="15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9" name="Google Shape;359;p23"/>
          <p:cNvSpPr/>
          <p:nvPr/>
        </p:nvSpPr>
        <p:spPr>
          <a:xfrm>
            <a:off x="0" y="0"/>
            <a:ext cx="9144000" cy="444300"/>
          </a:xfrm>
          <a:prstGeom prst="rect">
            <a:avLst/>
          </a:prstGeom>
          <a:solidFill>
            <a:srgbClr val="0E68B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23"/>
          <p:cNvSpPr txBox="1"/>
          <p:nvPr/>
        </p:nvSpPr>
        <p:spPr>
          <a:xfrm>
            <a:off x="0" y="-34200"/>
            <a:ext cx="68091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 Page</a:t>
            </a:r>
            <a:endParaRPr sz="25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1" name="Google Shape;361;p23"/>
          <p:cNvSpPr txBox="1"/>
          <p:nvPr/>
        </p:nvSpPr>
        <p:spPr>
          <a:xfrm>
            <a:off x="2819400" y="457200"/>
            <a:ext cx="61722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>
                <a:latin typeface="Times New Roman"/>
                <a:ea typeface="Times New Roman"/>
                <a:cs typeface="Times New Roman"/>
                <a:sym typeface="Times New Roman"/>
              </a:rPr>
              <a:t>Duryea, J., Neumann, G., Niu, J., &amp; Hunter, D. J. (2007). Comparison of radiographic joint space width measurement methods in knee osteoarthritis. Osteoarthritis and Cartilage, 15(6), 666–672.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>
                <a:latin typeface="Times New Roman"/>
                <a:ea typeface="Times New Roman"/>
                <a:cs typeface="Times New Roman"/>
                <a:sym typeface="Times New Roman"/>
              </a:rPr>
              <a:t>Hunter, D. J., Zhang, Y., Niu, J., Tu, X., Amin, S., Clancy, M., &amp; Felson, D. T. (2009). The association of cartilage loss with joint space narrowing in knee osteoarthritis. Arthritis &amp; Rheumatism, 60(3), 917–924.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>
                <a:latin typeface="Times New Roman"/>
                <a:ea typeface="Times New Roman"/>
                <a:cs typeface="Times New Roman"/>
                <a:sym typeface="Times New Roman"/>
              </a:rPr>
              <a:t>Dunlop, D. D., Song, J., Semanik, P. A., Sharma, L., Bathon, J. M., Eaton, C. B., &amp; Chang, R. W. (2011). Physical activity levels and functional performance in the osteoarthritis initiative. Arthritis Care &amp; Research, 63(12), 1773–1780.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>
                <a:latin typeface="Times New Roman"/>
                <a:ea typeface="Times New Roman"/>
                <a:cs typeface="Times New Roman"/>
                <a:sym typeface="Times New Roman"/>
              </a:rPr>
              <a:t>White, D. K., Tudor-Locke, C., Zhang, Y., Fielding, R. A., LaValley, M., Felson, D. T., &amp; Nevitt, M. C. (2017). Daily walking and the risk of incident functional limitation in knee osteoarthritis. Arthritis Care &amp; Research, 69(6), 857–865.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>
                <a:latin typeface="Times New Roman"/>
                <a:ea typeface="Times New Roman"/>
                <a:cs typeface="Times New Roman"/>
                <a:sym typeface="Times New Roman"/>
              </a:rPr>
              <a:t>Pahor, M., Guralnik, J. M., Ambrosius, W. T., Blair, S., Bonds, D. E., Church, T. S., &amp; LIFE Study Investigators. (2014). Effect of structured physical activity on prevention of major mobility disability in older adults. JAMA, 311(23), 2387–2396.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>
                <a:latin typeface="Times New Roman"/>
                <a:ea typeface="Times New Roman"/>
                <a:cs typeface="Times New Roman"/>
                <a:sym typeface="Times New Roman"/>
              </a:rPr>
              <a:t>Banker, M., Zhang, L., &amp; Song, P. X. K. (2023). Regularized scalar-on-function regression analysis to assess functional association of critical physical activity window with biological age.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62" name="Google Shape;362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571501"/>
            <a:ext cx="2856449" cy="384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4"/>
          <p:cNvSpPr/>
          <p:nvPr/>
        </p:nvSpPr>
        <p:spPr>
          <a:xfrm>
            <a:off x="2504100" y="4848975"/>
            <a:ext cx="4177800" cy="279300"/>
          </a:xfrm>
          <a:prstGeom prst="rect">
            <a:avLst/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24"/>
          <p:cNvSpPr txBox="1"/>
          <p:nvPr/>
        </p:nvSpPr>
        <p:spPr>
          <a:xfrm>
            <a:off x="8598600" y="4848975"/>
            <a:ext cx="7971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1/12</a:t>
            </a:r>
            <a:endParaRPr sz="15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9" name="Google Shape;369;p24"/>
          <p:cNvSpPr txBox="1"/>
          <p:nvPr/>
        </p:nvSpPr>
        <p:spPr>
          <a:xfrm>
            <a:off x="2519100" y="4788525"/>
            <a:ext cx="4105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CHL5222H: Laboratory in Statistical Design and Analysis</a:t>
            </a:r>
            <a:endParaRPr sz="12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70" name="Google Shape;37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4300" y="4421075"/>
            <a:ext cx="2139700" cy="44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24"/>
          <p:cNvSpPr txBox="1"/>
          <p:nvPr/>
        </p:nvSpPr>
        <p:spPr>
          <a:xfrm>
            <a:off x="6053100" y="484897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zh-CN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2026-04-22</a:t>
            </a:r>
            <a:endParaRPr sz="12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2" name="Google Shape;372;p24"/>
          <p:cNvSpPr/>
          <p:nvPr/>
        </p:nvSpPr>
        <p:spPr>
          <a:xfrm>
            <a:off x="6639900" y="4848975"/>
            <a:ext cx="2504100" cy="279300"/>
          </a:xfrm>
          <a:prstGeom prst="rect">
            <a:avLst/>
          </a:prstGeom>
          <a:solidFill>
            <a:srgbClr val="1C458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24"/>
          <p:cNvSpPr/>
          <p:nvPr/>
        </p:nvSpPr>
        <p:spPr>
          <a:xfrm>
            <a:off x="0" y="4848975"/>
            <a:ext cx="2504100" cy="279300"/>
          </a:xfrm>
          <a:prstGeom prst="rect">
            <a:avLst/>
          </a:prstGeom>
          <a:solidFill>
            <a:srgbClr val="0E68B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24"/>
          <p:cNvSpPr txBox="1"/>
          <p:nvPr/>
        </p:nvSpPr>
        <p:spPr>
          <a:xfrm>
            <a:off x="0" y="4803975"/>
            <a:ext cx="2504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zh-CN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Instructor: Tony Panzarella</a:t>
            </a:r>
            <a:endParaRPr sz="12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5" name="Google Shape;375;p24"/>
          <p:cNvSpPr txBox="1"/>
          <p:nvPr/>
        </p:nvSpPr>
        <p:spPr>
          <a:xfrm>
            <a:off x="6639900" y="4803975"/>
            <a:ext cx="2504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zh-CN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2026-04-23</a:t>
            </a:r>
            <a:endParaRPr sz="12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6" name="Google Shape;376;p24"/>
          <p:cNvSpPr txBox="1"/>
          <p:nvPr/>
        </p:nvSpPr>
        <p:spPr>
          <a:xfrm>
            <a:off x="8574900" y="4766475"/>
            <a:ext cx="844500" cy="4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</a:t>
            </a:r>
            <a:r>
              <a:rPr lang="zh-CN" sz="1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/12</a:t>
            </a:r>
            <a:endParaRPr sz="15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7" name="Google Shape;377;p24"/>
          <p:cNvSpPr/>
          <p:nvPr/>
        </p:nvSpPr>
        <p:spPr>
          <a:xfrm>
            <a:off x="2329775" y="2803525"/>
            <a:ext cx="4341000" cy="774300"/>
          </a:xfrm>
          <a:prstGeom prst="roundRect">
            <a:avLst>
              <a:gd fmla="val 16667" name="adj"/>
            </a:avLst>
          </a:prstGeom>
          <a:solidFill>
            <a:srgbClr val="0000FF"/>
          </a:solidFill>
          <a:ln cap="flat" cmpd="sng" w="9525">
            <a:solidFill>
              <a:srgbClr val="1027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24"/>
          <p:cNvSpPr/>
          <p:nvPr/>
        </p:nvSpPr>
        <p:spPr>
          <a:xfrm>
            <a:off x="1390100" y="469575"/>
            <a:ext cx="6220500" cy="1674900"/>
          </a:xfrm>
          <a:prstGeom prst="roundRect">
            <a:avLst>
              <a:gd fmla="val 16667" name="adj"/>
            </a:avLst>
          </a:prstGeom>
          <a:solidFill>
            <a:srgbClr val="0E68B3"/>
          </a:solidFill>
          <a:ln cap="flat" cmpd="sng" w="9525">
            <a:solidFill>
              <a:srgbClr val="1027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24"/>
          <p:cNvSpPr txBox="1"/>
          <p:nvPr/>
        </p:nvSpPr>
        <p:spPr>
          <a:xfrm>
            <a:off x="1390100" y="769275"/>
            <a:ext cx="6220500" cy="1075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zh-CN" sz="438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 for watching</a:t>
            </a: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0" name="Google Shape;380;p24"/>
          <p:cNvSpPr txBox="1"/>
          <p:nvPr/>
        </p:nvSpPr>
        <p:spPr>
          <a:xfrm>
            <a:off x="2362200" y="2869800"/>
            <a:ext cx="4267200" cy="7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8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Welcome to ask questions</a:t>
            </a:r>
            <a:endParaRPr sz="13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