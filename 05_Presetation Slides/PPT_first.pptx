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0" r:id="rId4"/>
    <p:sldId id="261" r:id="rId5"/>
    <p:sldId id="262" r:id="rId6"/>
    <p:sldId id="264" r:id="rId7"/>
    <p:sldId id="266" r:id="rId8"/>
    <p:sldId id="268" r:id="rId9"/>
    <p:sldId id="275" r:id="rId10"/>
    <p:sldId id="276" r:id="rId11"/>
    <p:sldId id="274" r:id="rId12"/>
    <p:sldId id="259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ACC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Medium"/>
              </a:rPr>
              <a:t>2026/1/22</a:t>
            </a:fld>
            <a:endParaRPr lang="zh-CN" altLang="en-US">
              <a:ea typeface="思源黑体 Medium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Medium"/>
              </a:rPr>
              <a:t>‹#›</a:t>
            </a:fld>
            <a:endParaRPr lang="zh-CN" altLang="en-US">
              <a:ea typeface="思源黑体 Medium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Medium"/>
        <a:ea typeface="思源黑体 Medium"/>
        <a:cs typeface="思源黑体 Medium" panose="020B06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Medium"/>
        <a:ea typeface="思源黑体 Medium"/>
        <a:cs typeface="思源黑体 Medium" panose="020B06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Medium"/>
        <a:ea typeface="思源黑体 Medium"/>
        <a:cs typeface="思源黑体 Medium" panose="020B06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Medium"/>
        <a:ea typeface="思源黑体 Medium"/>
        <a:cs typeface="思源黑体 Medium" panose="020B06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Medium"/>
        <a:ea typeface="思源黑体 Medium"/>
        <a:cs typeface="思源黑体 Medium" panose="020B06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Medium"/>
                <a:ea typeface="思源黑体 Medium"/>
                <a:cs typeface="思源黑体 Medium" panose="020B06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Medium"/>
          <a:ea typeface="思源黑体 Medium"/>
          <a:cs typeface="思源黑体 Medium" panose="020B06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红色奢华年会背景-光波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lum bright="-6000"/>
          </a:blip>
          <a:stretch>
            <a:fillRect/>
          </a:stretch>
        </p:blipFill>
        <p:spPr>
          <a:xfrm>
            <a:off x="0" y="0"/>
            <a:ext cx="12190095" cy="6857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83640" y="1406525"/>
            <a:ext cx="1771015" cy="2615565"/>
          </a:xfrm>
          <a:prstGeom prst="rect">
            <a:avLst/>
          </a:prstGeom>
          <a:solidFill>
            <a:srgbClr val="DDE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25751" y="1720463"/>
            <a:ext cx="87671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6000" dirty="0"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Practicum Presentation</a:t>
            </a:r>
            <a:endParaRPr lang="zh-CN" altLang="en-US" sz="6000" dirty="0"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5751" y="2937123"/>
            <a:ext cx="8329241" cy="496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Accelerometer Time Series to Functional Activity Features</a:t>
            </a:r>
            <a:endParaRPr lang="zh-CN" altLang="en-US" sz="2400" spc="2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Times New Roman" panose="02020603050405020304" pitchFamily="18" charset="0"/>
              <a:ea typeface="思源黑体 Regular" panose="020B0500000000000000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151460" y="4266565"/>
            <a:ext cx="2976219" cy="369570"/>
            <a:chOff x="5514" y="7147"/>
            <a:chExt cx="3795" cy="582"/>
          </a:xfrm>
        </p:grpSpPr>
        <p:sp>
          <p:nvSpPr>
            <p:cNvPr id="17" name="矩形 16"/>
            <p:cNvSpPr/>
            <p:nvPr/>
          </p:nvSpPr>
          <p:spPr>
            <a:xfrm>
              <a:off x="5601" y="7147"/>
              <a:ext cx="3644" cy="582"/>
            </a:xfrm>
            <a:prstGeom prst="rect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514" y="7196"/>
              <a:ext cx="3795" cy="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Presenter</a:t>
              </a:r>
              <a:r>
                <a:rPr lang="zh-CN" altLang="en-US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：</a:t>
              </a:r>
              <a:r>
                <a:rPr lang="en-US" altLang="zh-CN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Xiankai Yang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213881" y="4763135"/>
            <a:ext cx="3757364" cy="579120"/>
            <a:chOff x="10159" y="7135"/>
            <a:chExt cx="3195" cy="912"/>
          </a:xfrm>
        </p:grpSpPr>
        <p:sp>
          <p:nvSpPr>
            <p:cNvPr id="9" name="矩形 8"/>
            <p:cNvSpPr/>
            <p:nvPr/>
          </p:nvSpPr>
          <p:spPr>
            <a:xfrm>
              <a:off x="10159" y="7135"/>
              <a:ext cx="3195" cy="582"/>
            </a:xfrm>
            <a:prstGeom prst="rect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159" y="7175"/>
              <a:ext cx="3118" cy="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Instructor</a:t>
              </a:r>
              <a:r>
                <a:rPr lang="zh-CN" altLang="en-US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：</a:t>
              </a:r>
              <a:r>
                <a:rPr lang="en-US" altLang="zh-CN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Osvaldo Espin Garcia</a:t>
              </a:r>
            </a:p>
            <a:p>
              <a:pPr algn="ctr"/>
              <a:endParaRPr lang="en-US" altLang="zh-CN" sz="1500" spc="200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56260" y="303530"/>
            <a:ext cx="833120" cy="405130"/>
            <a:chOff x="8094" y="1125"/>
            <a:chExt cx="3012" cy="1465"/>
          </a:xfrm>
        </p:grpSpPr>
        <p:sp>
          <p:nvSpPr>
            <p:cNvPr id="11" name="任意多边形 10"/>
            <p:cNvSpPr/>
            <p:nvPr/>
          </p:nvSpPr>
          <p:spPr>
            <a:xfrm>
              <a:off x="8094" y="1125"/>
              <a:ext cx="3012" cy="761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12" h="640">
                  <a:moveTo>
                    <a:pt x="1506" y="0"/>
                  </a:moveTo>
                  <a:lnTo>
                    <a:pt x="3012" y="438"/>
                  </a:lnTo>
                  <a:lnTo>
                    <a:pt x="2319" y="640"/>
                  </a:lnTo>
                  <a:lnTo>
                    <a:pt x="2319" y="571"/>
                  </a:lnTo>
                  <a:cubicBezTo>
                    <a:pt x="2319" y="513"/>
                    <a:pt x="1955" y="467"/>
                    <a:pt x="1507" y="467"/>
                  </a:cubicBezTo>
                  <a:cubicBezTo>
                    <a:pt x="1058" y="467"/>
                    <a:pt x="694" y="513"/>
                    <a:pt x="694" y="571"/>
                  </a:cubicBezTo>
                  <a:lnTo>
                    <a:pt x="694" y="640"/>
                  </a:lnTo>
                  <a:lnTo>
                    <a:pt x="0" y="438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12" name="圆柱形 11"/>
            <p:cNvSpPr/>
            <p:nvPr/>
          </p:nvSpPr>
          <p:spPr>
            <a:xfrm rot="10800000">
              <a:off x="8855" y="1761"/>
              <a:ext cx="1489" cy="829"/>
            </a:xfrm>
            <a:prstGeom prst="can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358" y="1761"/>
              <a:ext cx="156" cy="807"/>
              <a:chOff x="8358" y="1761"/>
              <a:chExt cx="156" cy="807"/>
            </a:xfrm>
          </p:grpSpPr>
          <p:cxnSp>
            <p:nvCxnSpPr>
              <p:cNvPr id="14" name="直接连接符 13"/>
              <p:cNvCxnSpPr>
                <a:endCxn id="24" idx="4"/>
              </p:cNvCxnSpPr>
              <p:nvPr/>
            </p:nvCxnSpPr>
            <p:spPr>
              <a:xfrm flipH="1">
                <a:off x="8436" y="1761"/>
                <a:ext cx="0" cy="578"/>
              </a:xfrm>
              <a:prstGeom prst="line">
                <a:avLst/>
              </a:prstGeom>
              <a:ln w="19050" cap="rnd">
                <a:solidFill>
                  <a:srgbClr val="ACCB9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组合 14"/>
              <p:cNvGrpSpPr/>
              <p:nvPr/>
            </p:nvGrpSpPr>
            <p:grpSpPr>
              <a:xfrm>
                <a:off x="8358" y="2183"/>
                <a:ext cx="156" cy="385"/>
                <a:chOff x="8358" y="2357"/>
                <a:chExt cx="156" cy="385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8358" y="2357"/>
                  <a:ext cx="156" cy="156"/>
                </a:xfrm>
                <a:prstGeom prst="ellipse">
                  <a:avLst/>
                </a:prstGeom>
                <a:solidFill>
                  <a:srgbClr val="ACCB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Medium" panose="020B0600000000000000" charset="-122"/>
                  </a:endParaRPr>
                </a:p>
              </p:txBody>
            </p:sp>
            <p:sp>
              <p:nvSpPr>
                <p:cNvPr id="31" name="梯形 30"/>
                <p:cNvSpPr/>
                <p:nvPr/>
              </p:nvSpPr>
              <p:spPr>
                <a:xfrm>
                  <a:off x="8376" y="2482"/>
                  <a:ext cx="119" cy="260"/>
                </a:xfrm>
                <a:prstGeom prst="trapezoid">
                  <a:avLst/>
                </a:prstGeom>
                <a:solidFill>
                  <a:srgbClr val="ACCB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Medium" panose="020B0600000000000000" charset="-122"/>
                  </a:endParaRPr>
                </a:p>
              </p:txBody>
            </p:sp>
          </p:grpSp>
        </p:grpSp>
      </p:grpSp>
      <p:sp>
        <p:nvSpPr>
          <p:cNvPr id="32" name="文本框 31"/>
          <p:cNvSpPr txBox="1"/>
          <p:nvPr/>
        </p:nvSpPr>
        <p:spPr>
          <a:xfrm>
            <a:off x="1433012" y="38745"/>
            <a:ext cx="36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of Toronto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02F5FB-8828-718A-44DC-F31095B76D68}"/>
              </a:ext>
            </a:extLst>
          </p:cNvPr>
          <p:cNvSpPr txBox="1"/>
          <p:nvPr/>
        </p:nvSpPr>
        <p:spPr>
          <a:xfrm>
            <a:off x="1433012" y="429806"/>
            <a:ext cx="6159320" cy="37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DALLA Lana School of Public Health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71D375-1631-26B1-EA83-944460BC6848}"/>
              </a:ext>
            </a:extLst>
          </p:cNvPr>
          <p:cNvSpPr txBox="1"/>
          <p:nvPr/>
        </p:nvSpPr>
        <p:spPr>
          <a:xfrm>
            <a:off x="1825751" y="3565297"/>
            <a:ext cx="6964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Time Curves, AUC Construction, and Correlation Diagnostics</a:t>
            </a:r>
            <a:endParaRPr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E886BD7-7CE9-A849-1902-B124A4D9C415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1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红色奢华年会背景-光波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lum bright="-6000"/>
          </a:blip>
          <a:stretch>
            <a:fillRect/>
          </a:stretch>
        </p:blipFill>
        <p:spPr>
          <a:xfrm flipH="1" flipV="1">
            <a:off x="1905" y="0"/>
            <a:ext cx="12190095" cy="685736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959803" y="3481902"/>
            <a:ext cx="911860" cy="1577340"/>
          </a:xfrm>
          <a:prstGeom prst="rect">
            <a:avLst/>
          </a:prstGeom>
          <a:solidFill>
            <a:srgbClr val="DDE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26050" y="3848485"/>
            <a:ext cx="343852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800" dirty="0"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6983730" y="1701800"/>
            <a:ext cx="2585085" cy="709930"/>
            <a:chOff x="10481" y="2660"/>
            <a:chExt cx="4071" cy="1118"/>
          </a:xfrm>
        </p:grpSpPr>
        <p:sp>
          <p:nvSpPr>
            <p:cNvPr id="17" name="矩形 16"/>
            <p:cNvSpPr/>
            <p:nvPr/>
          </p:nvSpPr>
          <p:spPr>
            <a:xfrm>
              <a:off x="10481" y="2660"/>
              <a:ext cx="602" cy="1098"/>
            </a:xfrm>
            <a:prstGeom prst="rect">
              <a:avLst/>
            </a:prstGeom>
            <a:solidFill>
              <a:srgbClr val="DDEB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0481" y="2660"/>
              <a:ext cx="4071" cy="1118"/>
              <a:chOff x="3590" y="4857"/>
              <a:chExt cx="4071" cy="1118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3590" y="4883"/>
                <a:ext cx="1018" cy="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01</a:t>
                </a: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002" y="4977"/>
                <a:ext cx="2659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Background</a:t>
                </a:r>
                <a:endParaRPr lang="zh-CN" alt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5118" y="5587"/>
                <a:ext cx="291" cy="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zh-CN" altLang="en-US" sz="1000" spc="200" dirty="0">
                  <a:solidFill>
                    <a:srgbClr val="2C304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 flipH="1">
                <a:off x="4854" y="4857"/>
                <a:ext cx="0" cy="1098"/>
              </a:xfrm>
              <a:prstGeom prst="line">
                <a:avLst/>
              </a:prstGeom>
              <a:ln w="25400">
                <a:solidFill>
                  <a:srgbClr val="ACCB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组合 24"/>
          <p:cNvGrpSpPr/>
          <p:nvPr/>
        </p:nvGrpSpPr>
        <p:grpSpPr>
          <a:xfrm>
            <a:off x="6983730" y="2859405"/>
            <a:ext cx="2038350" cy="697230"/>
            <a:chOff x="10481" y="2660"/>
            <a:chExt cx="3210" cy="1098"/>
          </a:xfrm>
        </p:grpSpPr>
        <p:sp>
          <p:nvSpPr>
            <p:cNvPr id="26" name="矩形 25"/>
            <p:cNvSpPr/>
            <p:nvPr/>
          </p:nvSpPr>
          <p:spPr>
            <a:xfrm>
              <a:off x="10481" y="2660"/>
              <a:ext cx="602" cy="1098"/>
            </a:xfrm>
            <a:prstGeom prst="rect">
              <a:avLst/>
            </a:prstGeom>
            <a:solidFill>
              <a:srgbClr val="DDEB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0481" y="2660"/>
              <a:ext cx="3210" cy="1098"/>
              <a:chOff x="3590" y="4857"/>
              <a:chExt cx="3210" cy="1098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3590" y="4883"/>
                <a:ext cx="1018" cy="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02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002" y="4977"/>
                <a:ext cx="1798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Method</a:t>
                </a:r>
                <a:endParaRPr lang="zh-CN" alt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 flipH="1">
                <a:off x="4854" y="4857"/>
                <a:ext cx="0" cy="1098"/>
              </a:xfrm>
              <a:prstGeom prst="line">
                <a:avLst/>
              </a:prstGeom>
              <a:ln w="25400">
                <a:solidFill>
                  <a:srgbClr val="ACCB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组合 31"/>
          <p:cNvGrpSpPr/>
          <p:nvPr/>
        </p:nvGrpSpPr>
        <p:grpSpPr>
          <a:xfrm>
            <a:off x="6983730" y="4017010"/>
            <a:ext cx="2649855" cy="697230"/>
            <a:chOff x="10481" y="2660"/>
            <a:chExt cx="4173" cy="1098"/>
          </a:xfrm>
        </p:grpSpPr>
        <p:sp>
          <p:nvSpPr>
            <p:cNvPr id="33" name="矩形 32"/>
            <p:cNvSpPr/>
            <p:nvPr/>
          </p:nvSpPr>
          <p:spPr>
            <a:xfrm>
              <a:off x="10481" y="2660"/>
              <a:ext cx="602" cy="1098"/>
            </a:xfrm>
            <a:prstGeom prst="rect">
              <a:avLst/>
            </a:prstGeom>
            <a:solidFill>
              <a:srgbClr val="DDEB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0481" y="2660"/>
              <a:ext cx="4173" cy="1098"/>
              <a:chOff x="3590" y="4857"/>
              <a:chExt cx="4173" cy="1098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3590" y="4883"/>
                <a:ext cx="1018" cy="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03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011" y="4977"/>
                <a:ext cx="2752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Current Step</a:t>
                </a:r>
                <a:endParaRPr lang="zh-CN" alt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8" name="直接连接符 37"/>
              <p:cNvCxnSpPr/>
              <p:nvPr/>
            </p:nvCxnSpPr>
            <p:spPr>
              <a:xfrm flipH="1">
                <a:off x="4854" y="4857"/>
                <a:ext cx="0" cy="1098"/>
              </a:xfrm>
              <a:prstGeom prst="line">
                <a:avLst/>
              </a:prstGeom>
              <a:ln w="25400">
                <a:solidFill>
                  <a:srgbClr val="ACCB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组合 38"/>
          <p:cNvGrpSpPr/>
          <p:nvPr/>
        </p:nvGrpSpPr>
        <p:grpSpPr>
          <a:xfrm>
            <a:off x="6983730" y="5174615"/>
            <a:ext cx="2952750" cy="697230"/>
            <a:chOff x="10481" y="2660"/>
            <a:chExt cx="4650" cy="1098"/>
          </a:xfrm>
        </p:grpSpPr>
        <p:sp>
          <p:nvSpPr>
            <p:cNvPr id="40" name="矩形 39"/>
            <p:cNvSpPr/>
            <p:nvPr/>
          </p:nvSpPr>
          <p:spPr>
            <a:xfrm>
              <a:off x="10481" y="2660"/>
              <a:ext cx="602" cy="1098"/>
            </a:xfrm>
            <a:prstGeom prst="rect">
              <a:avLst/>
            </a:prstGeom>
            <a:solidFill>
              <a:srgbClr val="DDEBD8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0481" y="2660"/>
              <a:ext cx="4650" cy="1098"/>
              <a:chOff x="3590" y="4857"/>
              <a:chExt cx="4650" cy="1098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3590" y="4883"/>
                <a:ext cx="1018" cy="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60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04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002" y="4977"/>
                <a:ext cx="3238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思源黑体 Medium"/>
                    <a:cs typeface="Times New Roman" panose="02020603050405020304" pitchFamily="18" charset="0"/>
                  </a:rPr>
                  <a:t>Future Arrange</a:t>
                </a:r>
                <a:endParaRPr lang="zh-CN" alt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5" name="直接连接符 44"/>
              <p:cNvCxnSpPr/>
              <p:nvPr/>
            </p:nvCxnSpPr>
            <p:spPr>
              <a:xfrm flipH="1">
                <a:off x="4854" y="4857"/>
                <a:ext cx="0" cy="1098"/>
              </a:xfrm>
              <a:prstGeom prst="line">
                <a:avLst/>
              </a:prstGeom>
              <a:ln w="25400">
                <a:solidFill>
                  <a:srgbClr val="ACCB9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CE087C8D-4C5C-6A52-7B96-8BF32C55B19B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2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 8">
            <a:extLst>
              <a:ext uri="{FF2B5EF4-FFF2-40B4-BE49-F238E27FC236}">
                <a16:creationId xmlns:a16="http://schemas.microsoft.com/office/drawing/2014/main" id="{407B8C87-915C-F21E-2D5E-B8C9967DCB5E}"/>
              </a:ext>
            </a:extLst>
          </p:cNvPr>
          <p:cNvSpPr/>
          <p:nvPr/>
        </p:nvSpPr>
        <p:spPr>
          <a:xfrm>
            <a:off x="6406253" y="4572568"/>
            <a:ext cx="5645287" cy="503148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9" name="圆角矩形 8">
            <a:extLst>
              <a:ext uri="{FF2B5EF4-FFF2-40B4-BE49-F238E27FC236}">
                <a16:creationId xmlns:a16="http://schemas.microsoft.com/office/drawing/2014/main" id="{4723D312-9FCD-EA6C-1205-3F49C7D2FDB8}"/>
              </a:ext>
            </a:extLst>
          </p:cNvPr>
          <p:cNvSpPr/>
          <p:nvPr/>
        </p:nvSpPr>
        <p:spPr>
          <a:xfrm>
            <a:off x="6406253" y="3478597"/>
            <a:ext cx="5645287" cy="503148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8" name="圆角矩形 8">
            <a:extLst>
              <a:ext uri="{FF2B5EF4-FFF2-40B4-BE49-F238E27FC236}">
                <a16:creationId xmlns:a16="http://schemas.microsoft.com/office/drawing/2014/main" id="{1DEF9795-8475-67D8-363D-754613E29BB8}"/>
              </a:ext>
            </a:extLst>
          </p:cNvPr>
          <p:cNvSpPr/>
          <p:nvPr/>
        </p:nvSpPr>
        <p:spPr>
          <a:xfrm>
            <a:off x="6406253" y="2412249"/>
            <a:ext cx="5645287" cy="503148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  <a:cs typeface="思源黑体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29945" y="175673"/>
            <a:ext cx="1879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1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75843" y="494048"/>
            <a:ext cx="4650578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Environment and Remote Access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89980530-8D58-60E1-B663-2C4D4A2B81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35" y="1389964"/>
            <a:ext cx="5385651" cy="4460714"/>
          </a:xfrm>
          <a:prstGeom prst="rect">
            <a:avLst/>
          </a:prstGeom>
        </p:spPr>
      </p:pic>
      <p:pic>
        <p:nvPicPr>
          <p:cNvPr id="14" name="图片 13" descr="徽标&#10;&#10;AI 生成的内容可能不正确。">
            <a:extLst>
              <a:ext uri="{FF2B5EF4-FFF2-40B4-BE49-F238E27FC236}">
                <a16:creationId xmlns:a16="http://schemas.microsoft.com/office/drawing/2014/main" id="{B8C6D9B0-9140-5F2A-2831-BB9CCAC25C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219" y="858571"/>
            <a:ext cx="4745253" cy="1222922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D0F555BF-9285-5836-29BE-212F37D8F6C3}"/>
              </a:ext>
            </a:extLst>
          </p:cNvPr>
          <p:cNvGrpSpPr/>
          <p:nvPr/>
        </p:nvGrpSpPr>
        <p:grpSpPr>
          <a:xfrm>
            <a:off x="5752203" y="2369420"/>
            <a:ext cx="557530" cy="557530"/>
            <a:chOff x="5587" y="2603"/>
            <a:chExt cx="878" cy="878"/>
          </a:xfrm>
          <a:solidFill>
            <a:srgbClr val="ACCB9F"/>
          </a:solidFill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F37B629-FCF0-C868-A4DA-8A9378404A82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2302BD-F739-6774-ACE3-A3011184352A}"/>
                </a:ext>
              </a:extLst>
            </p:cNvPr>
            <p:cNvSpPr txBox="1"/>
            <p:nvPr/>
          </p:nvSpPr>
          <p:spPr>
            <a:xfrm>
              <a:off x="5746" y="2679"/>
              <a:ext cx="562" cy="72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1</a:t>
              </a:r>
            </a:p>
          </p:txBody>
        </p:sp>
      </p:grpSp>
      <p:sp>
        <p:nvSpPr>
          <p:cNvPr id="29" name="文本框 22">
            <a:extLst>
              <a:ext uri="{FF2B5EF4-FFF2-40B4-BE49-F238E27FC236}">
                <a16:creationId xmlns:a16="http://schemas.microsoft.com/office/drawing/2014/main" id="{88142CAF-9BA1-CF55-FB19-FD5D311E51D3}"/>
              </a:ext>
            </a:extLst>
          </p:cNvPr>
          <p:cNvSpPr txBox="1"/>
          <p:nvPr/>
        </p:nvSpPr>
        <p:spPr>
          <a:xfrm>
            <a:off x="6406253" y="2412249"/>
            <a:ext cx="5116556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interactive sessions via a web browser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2B120AD-F16E-F8E2-3F43-590ED09AD939}"/>
              </a:ext>
            </a:extLst>
          </p:cNvPr>
          <p:cNvGrpSpPr/>
          <p:nvPr/>
        </p:nvGrpSpPr>
        <p:grpSpPr>
          <a:xfrm>
            <a:off x="5747123" y="3446184"/>
            <a:ext cx="558165" cy="558165"/>
            <a:chOff x="5587" y="2603"/>
            <a:chExt cx="879" cy="879"/>
          </a:xfrm>
          <a:solidFill>
            <a:srgbClr val="ACCB9F"/>
          </a:solidFill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EE39E08-D09D-B674-0F70-D80441B4B9F9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12ABBE1-B2E4-9E59-1E51-CE9452B58410}"/>
                </a:ext>
              </a:extLst>
            </p:cNvPr>
            <p:cNvSpPr txBox="1"/>
            <p:nvPr/>
          </p:nvSpPr>
          <p:spPr>
            <a:xfrm>
              <a:off x="5746" y="2679"/>
              <a:ext cx="576" cy="72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2</a:t>
              </a:r>
            </a:p>
          </p:txBody>
        </p:sp>
      </p:grpSp>
      <p:sp>
        <p:nvSpPr>
          <p:cNvPr id="33" name="文本框 22">
            <a:extLst>
              <a:ext uri="{FF2B5EF4-FFF2-40B4-BE49-F238E27FC236}">
                <a16:creationId xmlns:a16="http://schemas.microsoft.com/office/drawing/2014/main" id="{4F9A1EC4-5A32-3369-C677-46EA7A611680}"/>
              </a:ext>
            </a:extLst>
          </p:cNvPr>
          <p:cNvSpPr txBox="1"/>
          <p:nvPr/>
        </p:nvSpPr>
        <p:spPr>
          <a:xfrm>
            <a:off x="6406253" y="3478597"/>
            <a:ext cx="5116556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codes on remote compute nodes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9223502-8295-7606-48E4-A9DFB2131EA3}"/>
              </a:ext>
            </a:extLst>
          </p:cNvPr>
          <p:cNvGrpSpPr/>
          <p:nvPr/>
        </p:nvGrpSpPr>
        <p:grpSpPr>
          <a:xfrm>
            <a:off x="5747123" y="4522948"/>
            <a:ext cx="558165" cy="558165"/>
            <a:chOff x="5587" y="2603"/>
            <a:chExt cx="879" cy="879"/>
          </a:xfrm>
          <a:solidFill>
            <a:srgbClr val="ACCB9F"/>
          </a:solidFill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20FB840-214F-B0D9-A3E6-BBF5540F930F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C25C49C-983B-F262-9C6A-37C74AC33910}"/>
                </a:ext>
              </a:extLst>
            </p:cNvPr>
            <p:cNvSpPr txBox="1"/>
            <p:nvPr/>
          </p:nvSpPr>
          <p:spPr>
            <a:xfrm>
              <a:off x="5746" y="2679"/>
              <a:ext cx="576" cy="72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3</a:t>
              </a:r>
            </a:p>
          </p:txBody>
        </p:sp>
      </p:grpSp>
      <p:sp>
        <p:nvSpPr>
          <p:cNvPr id="37" name="文本框 22">
            <a:extLst>
              <a:ext uri="{FF2B5EF4-FFF2-40B4-BE49-F238E27FC236}">
                <a16:creationId xmlns:a16="http://schemas.microsoft.com/office/drawing/2014/main" id="{0C6DA774-8903-2052-EC4D-5E60B8AEFDBA}"/>
              </a:ext>
            </a:extLst>
          </p:cNvPr>
          <p:cNvSpPr txBox="1"/>
          <p:nvPr/>
        </p:nvSpPr>
        <p:spPr>
          <a:xfrm>
            <a:off x="6406253" y="4571208"/>
            <a:ext cx="5903099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files and outputs within the same interface</a:t>
            </a:r>
            <a:endParaRPr lang="zh-CN" altLang="en-US" sz="1600" spc="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EB4FBA-F8EE-52B6-85EE-F63372E2CC1B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3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>
            <a:extLst>
              <a:ext uri="{FF2B5EF4-FFF2-40B4-BE49-F238E27FC236}">
                <a16:creationId xmlns:a16="http://schemas.microsoft.com/office/drawing/2014/main" id="{8FE228C1-7842-C521-D2C1-0632D9458C04}"/>
              </a:ext>
            </a:extLst>
          </p:cNvPr>
          <p:cNvSpPr txBox="1"/>
          <p:nvPr/>
        </p:nvSpPr>
        <p:spPr>
          <a:xfrm>
            <a:off x="6713003" y="4355183"/>
            <a:ext cx="4682418" cy="15254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364DF9E-5F1D-6A44-9567-65369F9999C6}"/>
              </a:ext>
            </a:extLst>
          </p:cNvPr>
          <p:cNvSpPr txBox="1"/>
          <p:nvPr/>
        </p:nvSpPr>
        <p:spPr>
          <a:xfrm>
            <a:off x="865454" y="3985852"/>
            <a:ext cx="4682418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F03396A-41B6-9FF7-0E63-0F5A0EFB09C3}"/>
              </a:ext>
            </a:extLst>
          </p:cNvPr>
          <p:cNvSpPr txBox="1"/>
          <p:nvPr/>
        </p:nvSpPr>
        <p:spPr>
          <a:xfrm>
            <a:off x="6713004" y="2983022"/>
            <a:ext cx="4682418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667A3A7-4406-BFC5-1008-7E7305543394}"/>
              </a:ext>
            </a:extLst>
          </p:cNvPr>
          <p:cNvSpPr txBox="1"/>
          <p:nvPr/>
        </p:nvSpPr>
        <p:spPr>
          <a:xfrm>
            <a:off x="6713003" y="4138993"/>
            <a:ext cx="4682418" cy="15254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7E1620B-2EE5-C825-42D7-D0776283B53A}"/>
              </a:ext>
            </a:extLst>
          </p:cNvPr>
          <p:cNvGrpSpPr/>
          <p:nvPr/>
        </p:nvGrpSpPr>
        <p:grpSpPr>
          <a:xfrm>
            <a:off x="6332082" y="1434604"/>
            <a:ext cx="5063340" cy="1548419"/>
            <a:chOff x="1956" y="3250"/>
            <a:chExt cx="7285" cy="2028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480C406-5450-9FBB-D358-A4BECB472448}"/>
                </a:ext>
              </a:extLst>
            </p:cNvPr>
            <p:cNvSpPr/>
            <p:nvPr/>
          </p:nvSpPr>
          <p:spPr>
            <a:xfrm>
              <a:off x="2508" y="3250"/>
              <a:ext cx="6733" cy="2028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3A93D9F-29D2-A4DF-F704-EF0BF3330279}"/>
                </a:ext>
              </a:extLst>
            </p:cNvPr>
            <p:cNvSpPr/>
            <p:nvPr/>
          </p:nvSpPr>
          <p:spPr>
            <a:xfrm>
              <a:off x="1956" y="3733"/>
              <a:ext cx="1104" cy="1104"/>
            </a:xfrm>
            <a:prstGeom prst="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C15F63C-C99F-54A0-EB64-95CC3D2E836D}"/>
                </a:ext>
              </a:extLst>
            </p:cNvPr>
            <p:cNvSpPr txBox="1"/>
            <p:nvPr/>
          </p:nvSpPr>
          <p:spPr>
            <a:xfrm>
              <a:off x="2057" y="3942"/>
              <a:ext cx="902" cy="68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02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087" cy="92392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481569" y="1434605"/>
            <a:ext cx="5066303" cy="2572299"/>
            <a:chOff x="1956" y="3250"/>
            <a:chExt cx="7285" cy="3369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73" name="矩形 72"/>
            <p:cNvSpPr/>
            <p:nvPr/>
          </p:nvSpPr>
          <p:spPr>
            <a:xfrm>
              <a:off x="2508" y="3250"/>
              <a:ext cx="6733" cy="2028"/>
            </a:xfrm>
            <a:prstGeom prst="rect">
              <a:avLst/>
            </a:pr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956" y="3733"/>
              <a:ext cx="1104" cy="1104"/>
            </a:xfrm>
            <a:prstGeom prst="rect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2107" y="3915"/>
              <a:ext cx="910" cy="82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01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3113" y="3874"/>
              <a:ext cx="3092" cy="68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Source</a:t>
              </a:r>
              <a:endPara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508" y="5105"/>
              <a:ext cx="6733" cy="15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  Osteoarthritis Initiative (OAI)</a:t>
              </a:r>
            </a:p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  Large, longitudinal public health study</a:t>
              </a:r>
            </a:p>
            <a:p>
              <a:pPr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  Data collected in the United States</a:t>
              </a:r>
              <a:endParaRPr lang="zh-CN" altLang="en-US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2C008E4-20F2-A3A1-B4B0-C0585AE9219F}"/>
              </a:ext>
            </a:extLst>
          </p:cNvPr>
          <p:cNvSpPr txBox="1"/>
          <p:nvPr/>
        </p:nvSpPr>
        <p:spPr>
          <a:xfrm>
            <a:off x="829945" y="175673"/>
            <a:ext cx="1879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1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8">
            <a:extLst>
              <a:ext uri="{FF2B5EF4-FFF2-40B4-BE49-F238E27FC236}">
                <a16:creationId xmlns:a16="http://schemas.microsoft.com/office/drawing/2014/main" id="{A3C72C85-C33E-0745-AEED-DE88EB056ADD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6605A42-E0F0-446F-E741-34FAD5ED995E}"/>
              </a:ext>
            </a:extLst>
          </p:cNvPr>
          <p:cNvSpPr/>
          <p:nvPr/>
        </p:nvSpPr>
        <p:spPr>
          <a:xfrm>
            <a:off x="902795" y="3034356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EA51049D-0D1D-80ED-7F96-819BD032B89A}"/>
              </a:ext>
            </a:extLst>
          </p:cNvPr>
          <p:cNvSpPr/>
          <p:nvPr/>
        </p:nvSpPr>
        <p:spPr>
          <a:xfrm>
            <a:off x="893458" y="3406360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3A1E6713-CB50-058A-39A0-D2F51795A88D}"/>
              </a:ext>
            </a:extLst>
          </p:cNvPr>
          <p:cNvSpPr/>
          <p:nvPr/>
        </p:nvSpPr>
        <p:spPr>
          <a:xfrm>
            <a:off x="902795" y="3768094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20D5690-2ED6-688D-E2C2-00E6CD6BE244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5442" y="1355361"/>
            <a:ext cx="1772778" cy="1462188"/>
          </a:xfrm>
          <a:prstGeom prst="rect">
            <a:avLst/>
          </a:prstGeom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17FFBE65-874C-B2E0-F125-575DDFEDA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464" y="4091650"/>
            <a:ext cx="2474897" cy="164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07462665-1262-7EAD-DB26-DA483B1925D4}"/>
              </a:ext>
            </a:extLst>
          </p:cNvPr>
          <p:cNvSpPr txBox="1"/>
          <p:nvPr/>
        </p:nvSpPr>
        <p:spPr>
          <a:xfrm>
            <a:off x="7139791" y="1962960"/>
            <a:ext cx="3483553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Data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145EA70C-0AA6-1704-502F-F86B97DE3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194" y="4091649"/>
            <a:ext cx="2059352" cy="152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C21FB026-312D-CA03-0889-F5DD14753AFF}"/>
              </a:ext>
            </a:extLst>
          </p:cNvPr>
          <p:cNvSpPr txBox="1"/>
          <p:nvPr/>
        </p:nvSpPr>
        <p:spPr>
          <a:xfrm>
            <a:off x="6713003" y="2822683"/>
            <a:ext cx="4682418" cy="11560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Wearable accelerometer measurements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Minute-level physical activity counts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Multiple days per participant</a:t>
            </a: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021370F2-7220-E19C-C438-4B8B69582CC0}"/>
              </a:ext>
            </a:extLst>
          </p:cNvPr>
          <p:cNvSpPr/>
          <p:nvPr/>
        </p:nvSpPr>
        <p:spPr>
          <a:xfrm>
            <a:off x="6754601" y="3015090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712B1B49-DEF0-61DB-2A2E-9612A0AE6135}"/>
              </a:ext>
            </a:extLst>
          </p:cNvPr>
          <p:cNvSpPr/>
          <p:nvPr/>
        </p:nvSpPr>
        <p:spPr>
          <a:xfrm>
            <a:off x="6754601" y="3378618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75C240AB-510F-EAF9-EC6B-0E6D1D7D19E2}"/>
              </a:ext>
            </a:extLst>
          </p:cNvPr>
          <p:cNvSpPr/>
          <p:nvPr/>
        </p:nvSpPr>
        <p:spPr>
          <a:xfrm>
            <a:off x="6754601" y="3735134"/>
            <a:ext cx="135228" cy="157110"/>
          </a:xfrm>
          <a:prstGeom prst="rightArrow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1C370F3-0BB0-A8B8-32B2-325E4D6E4668}"/>
              </a:ext>
            </a:extLst>
          </p:cNvPr>
          <p:cNvCxnSpPr>
            <a:cxnSpLocks/>
          </p:cNvCxnSpPr>
          <p:nvPr/>
        </p:nvCxnSpPr>
        <p:spPr>
          <a:xfrm flipV="1">
            <a:off x="6096000" y="958221"/>
            <a:ext cx="0" cy="5473315"/>
          </a:xfrm>
          <a:prstGeom prst="line">
            <a:avLst/>
          </a:prstGeom>
          <a:ln w="12700">
            <a:solidFill>
              <a:srgbClr val="ACCB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octor Monitoring Patient Vital Signs with Wearable Health Device in ...">
            <a:extLst>
              <a:ext uri="{FF2B5EF4-FFF2-40B4-BE49-F238E27FC236}">
                <a16:creationId xmlns:a16="http://schemas.microsoft.com/office/drawing/2014/main" id="{FFFB16C5-3ADF-9209-D6A4-67B3B83D1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214" y="4104210"/>
            <a:ext cx="2059351" cy="156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A13736-2F21-A139-0A9E-66EC1EF561B7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4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F05008C-28F8-9167-C9D5-359FA2971710}"/>
              </a:ext>
            </a:extLst>
          </p:cNvPr>
          <p:cNvSpPr/>
          <p:nvPr/>
        </p:nvSpPr>
        <p:spPr>
          <a:xfrm>
            <a:off x="829945" y="4462107"/>
            <a:ext cx="9799775" cy="1172291"/>
          </a:xfrm>
          <a:prstGeom prst="rect">
            <a:avLst/>
          </a:prstGeom>
          <a:solidFill>
            <a:srgbClr val="A9D18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9D18E"/>
              </a:solidFill>
              <a:cs typeface="思源黑体 Medium" panose="020B06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778DCD-5672-6517-418E-473862D5A964}"/>
              </a:ext>
            </a:extLst>
          </p:cNvPr>
          <p:cNvSpPr txBox="1"/>
          <p:nvPr/>
        </p:nvSpPr>
        <p:spPr>
          <a:xfrm>
            <a:off x="829945" y="175673"/>
            <a:ext cx="1879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1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7" name="圆角矩形 8">
            <a:extLst>
              <a:ext uri="{FF2B5EF4-FFF2-40B4-BE49-F238E27FC236}">
                <a16:creationId xmlns:a16="http://schemas.microsoft.com/office/drawing/2014/main" id="{23D014BE-E0F2-CB06-7D28-6996B2C305D1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Table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45D3A7-052F-675F-391F-2643EA94DBCC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5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F67A64-2C60-396B-0C88-696362F1F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189947"/>
              </p:ext>
            </p:extLst>
          </p:nvPr>
        </p:nvGraphicFramePr>
        <p:xfrm>
          <a:off x="829945" y="1141101"/>
          <a:ext cx="9799774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3620">
                  <a:extLst>
                    <a:ext uri="{9D8B030D-6E8A-4147-A177-3AD203B41FA5}">
                      <a16:colId xmlns:a16="http://schemas.microsoft.com/office/drawing/2014/main" val="154638886"/>
                    </a:ext>
                  </a:extLst>
                </a:gridCol>
                <a:gridCol w="1043398">
                  <a:extLst>
                    <a:ext uri="{9D8B030D-6E8A-4147-A177-3AD203B41FA5}">
                      <a16:colId xmlns:a16="http://schemas.microsoft.com/office/drawing/2014/main" val="2080423917"/>
                    </a:ext>
                  </a:extLst>
                </a:gridCol>
                <a:gridCol w="6842756">
                  <a:extLst>
                    <a:ext uri="{9D8B030D-6E8A-4147-A177-3AD203B41FA5}">
                      <a16:colId xmlns:a16="http://schemas.microsoft.com/office/drawing/2014/main" val="352759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Variable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4639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Same ID: same individual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3380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V08PAStudayDay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day (range 781–1427, with Day 1 = August 01, 2008)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2086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V08MinSequence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altLang="zh-CN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 index (t): </a:t>
                      </a:r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(range 1–1440, representing minutes from 00:00 to 23:59)</a:t>
                      </a:r>
                      <a:endParaRPr lang="en-US" altLang="zh-CN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u="none" strike="noStrike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V08SupectMInute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Indicator of suspicious minute suggesting monitor wear during sleep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32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V08MINCnt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core variable, which is the activity count</a:t>
                      </a:r>
                      <a:endParaRPr lang="en-US" altLang="zh-CN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22349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CAD5F6F-9483-4323-92A3-9970340F5DB9}"/>
              </a:ext>
            </a:extLst>
          </p:cNvPr>
          <p:cNvSpPr txBox="1"/>
          <p:nvPr/>
        </p:nvSpPr>
        <p:spPr>
          <a:xfrm>
            <a:off x="829945" y="4562633"/>
            <a:ext cx="98941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variables used in subsequent analyses are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V08MinSequence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(time index) and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V08MINCnt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(activity count), which together form the minute-level activity time series for each individual.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>
            <a:extLst>
              <a:ext uri="{FF2B5EF4-FFF2-40B4-BE49-F238E27FC236}">
                <a16:creationId xmlns:a16="http://schemas.microsoft.com/office/drawing/2014/main" id="{788E0F8D-08E4-47E5-9E4C-CA2170689D6F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89890" y="1197883"/>
            <a:ext cx="8147050" cy="3683639"/>
            <a:chOff x="2175" y="3724"/>
            <a:chExt cx="12830" cy="5801"/>
          </a:xfrm>
        </p:grpSpPr>
        <p:grpSp>
          <p:nvGrpSpPr>
            <p:cNvPr id="23" name="组合 22"/>
            <p:cNvGrpSpPr/>
            <p:nvPr/>
          </p:nvGrpSpPr>
          <p:grpSpPr>
            <a:xfrm>
              <a:off x="2175" y="4561"/>
              <a:ext cx="12830" cy="994"/>
              <a:chOff x="1236" y="4942"/>
              <a:chExt cx="12830" cy="99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1236" y="4942"/>
                <a:ext cx="9477" cy="994"/>
                <a:chOff x="1373" y="4741"/>
                <a:chExt cx="12667" cy="1328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1373" y="4741"/>
                  <a:ext cx="8185" cy="1318"/>
                  <a:chOff x="1373" y="4741"/>
                  <a:chExt cx="8185" cy="1318"/>
                </a:xfrm>
              </p:grpSpPr>
              <p:sp>
                <p:nvSpPr>
                  <p:cNvPr id="8" name="圆角矩形 7"/>
                  <p:cNvSpPr/>
                  <p:nvPr/>
                </p:nvSpPr>
                <p:spPr>
                  <a:xfrm>
                    <a:off x="5720" y="4741"/>
                    <a:ext cx="3838" cy="1318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63500">
                    <a:solidFill>
                      <a:srgbClr val="ACCB9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Medium"/>
                      <a:ea typeface="思源黑体 Medium"/>
                      <a:cs typeface="思源黑体 Medium" panose="020B0600000000000000" charset="-122"/>
                    </a:endParaRPr>
                  </a:p>
                </p:txBody>
              </p:sp>
              <p:sp>
                <p:nvSpPr>
                  <p:cNvPr id="9" name="圆角矩形 8"/>
                  <p:cNvSpPr/>
                  <p:nvPr/>
                </p:nvSpPr>
                <p:spPr>
                  <a:xfrm>
                    <a:off x="1373" y="4741"/>
                    <a:ext cx="3838" cy="1318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63500">
                    <a:solidFill>
                      <a:srgbClr val="D0E4C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Medium"/>
                      <a:ea typeface="思源黑体 Medium"/>
                      <a:cs typeface="思源黑体 Medium" panose="020B0600000000000000" charset="-122"/>
                    </a:endParaRPr>
                  </a:p>
                </p:txBody>
              </p:sp>
              <p:sp>
                <p:nvSpPr>
                  <p:cNvPr id="12" name="圆角矩形 11"/>
                  <p:cNvSpPr/>
                  <p:nvPr/>
                </p:nvSpPr>
                <p:spPr>
                  <a:xfrm flipV="1">
                    <a:off x="4571" y="5211"/>
                    <a:ext cx="1720" cy="37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EBD8"/>
                  </a:solidFill>
                  <a:ln w="635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Medium"/>
                      <a:ea typeface="思源黑体 Medium"/>
                      <a:cs typeface="思源黑体 Medium" panose="020B0600000000000000" charset="-122"/>
                    </a:endParaRPr>
                  </a:p>
                </p:txBody>
              </p:sp>
            </p:grpSp>
            <p:grpSp>
              <p:nvGrpSpPr>
                <p:cNvPr id="13" name="组合 12"/>
                <p:cNvGrpSpPr/>
                <p:nvPr/>
              </p:nvGrpSpPr>
              <p:grpSpPr>
                <a:xfrm>
                  <a:off x="9054" y="4751"/>
                  <a:ext cx="4987" cy="1318"/>
                  <a:chOff x="4571" y="4741"/>
                  <a:chExt cx="4987" cy="1318"/>
                </a:xfrm>
              </p:grpSpPr>
              <p:sp>
                <p:nvSpPr>
                  <p:cNvPr id="15" name="圆角矩形 14"/>
                  <p:cNvSpPr/>
                  <p:nvPr/>
                </p:nvSpPr>
                <p:spPr>
                  <a:xfrm>
                    <a:off x="5720" y="4741"/>
                    <a:ext cx="3838" cy="1318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63500">
                    <a:solidFill>
                      <a:srgbClr val="D0E4C7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Medium"/>
                      <a:ea typeface="思源黑体 Medium"/>
                      <a:cs typeface="思源黑体 Medium" panose="020B0600000000000000" charset="-122"/>
                    </a:endParaRPr>
                  </a:p>
                </p:txBody>
              </p:sp>
              <p:sp>
                <p:nvSpPr>
                  <p:cNvPr id="19" name="圆角矩形 18"/>
                  <p:cNvSpPr/>
                  <p:nvPr/>
                </p:nvSpPr>
                <p:spPr>
                  <a:xfrm flipV="1">
                    <a:off x="4571" y="5211"/>
                    <a:ext cx="1720" cy="37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EBD8"/>
                  </a:solidFill>
                  <a:ln w="635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Medium"/>
                      <a:ea typeface="思源黑体 Medium"/>
                      <a:cs typeface="思源黑体 Medium" panose="020B0600000000000000" charset="-122"/>
                    </a:endParaRPr>
                  </a:p>
                </p:txBody>
              </p:sp>
            </p:grpSp>
          </p:grpSp>
          <p:sp>
            <p:nvSpPr>
              <p:cNvPr id="22" name="圆角矩形 21"/>
              <p:cNvSpPr/>
              <p:nvPr/>
            </p:nvSpPr>
            <p:spPr>
              <a:xfrm>
                <a:off x="11196" y="4949"/>
                <a:ext cx="2871" cy="987"/>
              </a:xfrm>
              <a:prstGeom prst="roundRect">
                <a:avLst>
                  <a:gd name="adj" fmla="val 50000"/>
                </a:avLst>
              </a:prstGeom>
              <a:noFill/>
              <a:ln w="63500">
                <a:solidFill>
                  <a:srgbClr val="ACCB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Medium"/>
                  <a:ea typeface="思源黑体 Medium"/>
                  <a:cs typeface="思源黑体 Medium" panose="020B0600000000000000" charset="-122"/>
                </a:endParaRPr>
              </a:p>
            </p:txBody>
          </p:sp>
          <p:sp>
            <p:nvSpPr>
              <p:cNvPr id="21" name="圆角矩形 20"/>
              <p:cNvSpPr/>
              <p:nvPr/>
            </p:nvSpPr>
            <p:spPr>
              <a:xfrm flipV="1">
                <a:off x="10337" y="5301"/>
                <a:ext cx="1287" cy="283"/>
              </a:xfrm>
              <a:prstGeom prst="roundRect">
                <a:avLst>
                  <a:gd name="adj" fmla="val 50000"/>
                </a:avLst>
              </a:prstGeom>
              <a:solidFill>
                <a:srgbClr val="DDEBD8"/>
              </a:solidFill>
              <a:ln w="635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Medium"/>
                  <a:ea typeface="思源黑体 Medium"/>
                  <a:cs typeface="思源黑体 Medium" panose="020B0600000000000000" charset="-122"/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250" y="4698"/>
              <a:ext cx="2675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Raw Data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215" y="4736"/>
              <a:ext cx="1297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VM(t)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560" y="4746"/>
              <a:ext cx="129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OTC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921" y="4736"/>
              <a:ext cx="129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20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AUC</a:t>
              </a:r>
            </a:p>
          </p:txBody>
        </p:sp>
        <p:cxnSp>
          <p:nvCxnSpPr>
            <p:cNvPr id="51" name="直接连接符 50"/>
            <p:cNvCxnSpPr>
              <a:cxnSpLocks/>
            </p:cNvCxnSpPr>
            <p:nvPr/>
          </p:nvCxnSpPr>
          <p:spPr>
            <a:xfrm flipH="1" flipV="1">
              <a:off x="3607" y="5447"/>
              <a:ext cx="0" cy="705"/>
            </a:xfrm>
            <a:prstGeom prst="line">
              <a:avLst/>
            </a:prstGeom>
            <a:ln w="38100">
              <a:solidFill>
                <a:srgbClr val="D0E4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cxnSpLocks/>
            </p:cNvCxnSpPr>
            <p:nvPr/>
          </p:nvCxnSpPr>
          <p:spPr>
            <a:xfrm flipV="1">
              <a:off x="6863" y="5548"/>
              <a:ext cx="0" cy="3814"/>
            </a:xfrm>
            <a:prstGeom prst="line">
              <a:avLst/>
            </a:prstGeom>
            <a:ln w="38100">
              <a:solidFill>
                <a:srgbClr val="ACCB9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 flipV="1">
              <a:off x="10216" y="5548"/>
              <a:ext cx="0" cy="705"/>
            </a:xfrm>
            <a:prstGeom prst="line">
              <a:avLst/>
            </a:prstGeom>
            <a:ln w="38100">
              <a:solidFill>
                <a:srgbClr val="D0E4C7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cxnSpLocks/>
            </p:cNvCxnSpPr>
            <p:nvPr/>
          </p:nvCxnSpPr>
          <p:spPr>
            <a:xfrm flipV="1">
              <a:off x="13565" y="3905"/>
              <a:ext cx="0" cy="558"/>
            </a:xfrm>
            <a:prstGeom prst="line">
              <a:avLst/>
            </a:prstGeom>
            <a:ln w="38100">
              <a:solidFill>
                <a:srgbClr val="ACCB9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椭圆 61"/>
            <p:cNvSpPr/>
            <p:nvPr/>
          </p:nvSpPr>
          <p:spPr>
            <a:xfrm>
              <a:off x="3517" y="6156"/>
              <a:ext cx="194" cy="194"/>
            </a:xfrm>
            <a:prstGeom prst="ellipse">
              <a:avLst/>
            </a:prstGeom>
            <a:solidFill>
              <a:srgbClr val="D0E4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6766" y="9331"/>
              <a:ext cx="194" cy="194"/>
            </a:xfrm>
            <a:prstGeom prst="ellipse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64" name="椭圆 63"/>
            <p:cNvSpPr/>
            <p:nvPr/>
          </p:nvSpPr>
          <p:spPr>
            <a:xfrm>
              <a:off x="10119" y="6247"/>
              <a:ext cx="194" cy="194"/>
            </a:xfrm>
            <a:prstGeom prst="ellipse">
              <a:avLst/>
            </a:prstGeom>
            <a:solidFill>
              <a:srgbClr val="D0E4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13468" y="3724"/>
              <a:ext cx="194" cy="194"/>
            </a:xfrm>
            <a:prstGeom prst="ellipse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B79E38F-471F-7A05-F2FD-758DEA6068C2}"/>
              </a:ext>
            </a:extLst>
          </p:cNvPr>
          <p:cNvSpPr txBox="1"/>
          <p:nvPr/>
        </p:nvSpPr>
        <p:spPr>
          <a:xfrm>
            <a:off x="829945" y="175673"/>
            <a:ext cx="1515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2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6" name="圆角矩形 8">
            <a:extLst>
              <a:ext uri="{FF2B5EF4-FFF2-40B4-BE49-F238E27FC236}">
                <a16:creationId xmlns:a16="http://schemas.microsoft.com/office/drawing/2014/main" id="{B5C44DA0-EDE3-4002-273D-4E7646242F7C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Overall Process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3E0B8C71-0C21-6255-ABB8-19516E2153E7}"/>
              </a:ext>
            </a:extLst>
          </p:cNvPr>
          <p:cNvSpPr/>
          <p:nvPr/>
        </p:nvSpPr>
        <p:spPr>
          <a:xfrm rot="5400000">
            <a:off x="2245449" y="1952413"/>
            <a:ext cx="241858" cy="16480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981ED764-EBB3-0407-A755-52A93C4AB5AA}"/>
              </a:ext>
            </a:extLst>
          </p:cNvPr>
          <p:cNvSpPr/>
          <p:nvPr/>
        </p:nvSpPr>
        <p:spPr>
          <a:xfrm rot="5400000">
            <a:off x="4349814" y="1957629"/>
            <a:ext cx="241858" cy="16480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A923529B-89F6-5317-6A13-2816C22C78C9}"/>
              </a:ext>
            </a:extLst>
          </p:cNvPr>
          <p:cNvSpPr/>
          <p:nvPr/>
        </p:nvSpPr>
        <p:spPr>
          <a:xfrm rot="5400000">
            <a:off x="6465917" y="1960195"/>
            <a:ext cx="241858" cy="16480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91EA7D86-3DA8-EF73-8B66-C6DE74B007B9}"/>
              </a:ext>
            </a:extLst>
          </p:cNvPr>
          <p:cNvSpPr/>
          <p:nvPr/>
        </p:nvSpPr>
        <p:spPr>
          <a:xfrm rot="5400000" flipV="1">
            <a:off x="6772230" y="2996882"/>
            <a:ext cx="1700785" cy="154778"/>
          </a:xfrm>
          <a:prstGeom prst="roundRect">
            <a:avLst>
              <a:gd name="adj" fmla="val 50000"/>
            </a:avLst>
          </a:prstGeom>
          <a:solidFill>
            <a:srgbClr val="DDEBD8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43" name="等腰三角形 42">
            <a:extLst>
              <a:ext uri="{FF2B5EF4-FFF2-40B4-BE49-F238E27FC236}">
                <a16:creationId xmlns:a16="http://schemas.microsoft.com/office/drawing/2014/main" id="{2F5EE8B6-A944-51BC-C02E-1E33335AE118}"/>
              </a:ext>
            </a:extLst>
          </p:cNvPr>
          <p:cNvSpPr/>
          <p:nvPr/>
        </p:nvSpPr>
        <p:spPr>
          <a:xfrm rot="10800000">
            <a:off x="7501693" y="3036993"/>
            <a:ext cx="241858" cy="16480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圆角矩形 20">
            <a:extLst>
              <a:ext uri="{FF2B5EF4-FFF2-40B4-BE49-F238E27FC236}">
                <a16:creationId xmlns:a16="http://schemas.microsoft.com/office/drawing/2014/main" id="{1219054A-73DF-B319-135C-98E74D83DC97}"/>
              </a:ext>
            </a:extLst>
          </p:cNvPr>
          <p:cNvSpPr/>
          <p:nvPr/>
        </p:nvSpPr>
        <p:spPr>
          <a:xfrm flipV="1">
            <a:off x="8356282" y="1952766"/>
            <a:ext cx="817245" cy="179705"/>
          </a:xfrm>
          <a:prstGeom prst="roundRect">
            <a:avLst>
              <a:gd name="adj" fmla="val 50000"/>
            </a:avLst>
          </a:prstGeom>
          <a:solidFill>
            <a:srgbClr val="DDEBD8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81" name="等腰三角形 80">
            <a:extLst>
              <a:ext uri="{FF2B5EF4-FFF2-40B4-BE49-F238E27FC236}">
                <a16:creationId xmlns:a16="http://schemas.microsoft.com/office/drawing/2014/main" id="{8F696E1F-FF23-D960-5CF5-55D40EB58024}"/>
              </a:ext>
            </a:extLst>
          </p:cNvPr>
          <p:cNvSpPr/>
          <p:nvPr/>
        </p:nvSpPr>
        <p:spPr>
          <a:xfrm rot="5400000">
            <a:off x="8666835" y="1952413"/>
            <a:ext cx="241858" cy="16480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圆角矩形 14">
            <a:extLst>
              <a:ext uri="{FF2B5EF4-FFF2-40B4-BE49-F238E27FC236}">
                <a16:creationId xmlns:a16="http://schemas.microsoft.com/office/drawing/2014/main" id="{438AB93C-4AFF-DBBA-5A22-CBC90203B2F9}"/>
              </a:ext>
            </a:extLst>
          </p:cNvPr>
          <p:cNvSpPr/>
          <p:nvPr/>
        </p:nvSpPr>
        <p:spPr>
          <a:xfrm>
            <a:off x="9069098" y="1729378"/>
            <a:ext cx="1823374" cy="626438"/>
          </a:xfrm>
          <a:prstGeom prst="roundRect">
            <a:avLst>
              <a:gd name="adj" fmla="val 50000"/>
            </a:avLst>
          </a:prstGeom>
          <a:noFill/>
          <a:ln w="63500">
            <a:solidFill>
              <a:srgbClr val="D0E4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1804664E-0D62-9E52-6575-487F7ADCDED2}"/>
              </a:ext>
            </a:extLst>
          </p:cNvPr>
          <p:cNvSpPr/>
          <p:nvPr/>
        </p:nvSpPr>
        <p:spPr>
          <a:xfrm>
            <a:off x="7563006" y="4855493"/>
            <a:ext cx="123190" cy="123190"/>
          </a:xfrm>
          <a:prstGeom prst="ellipse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1ADB50D-6C9D-C0A8-9DFF-F286EFF83778}"/>
              </a:ext>
            </a:extLst>
          </p:cNvPr>
          <p:cNvSpPr txBox="1"/>
          <p:nvPr/>
        </p:nvSpPr>
        <p:spPr>
          <a:xfrm>
            <a:off x="9193158" y="1816374"/>
            <a:ext cx="1567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Fused Lasso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0378050-2028-99EB-3209-6312A59F844E}"/>
              </a:ext>
            </a:extLst>
          </p:cNvPr>
          <p:cNvSpPr txBox="1"/>
          <p:nvPr/>
        </p:nvSpPr>
        <p:spPr>
          <a:xfrm>
            <a:off x="6875228" y="3924664"/>
            <a:ext cx="1494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L0 + MIO</a:t>
            </a: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759129B3-D7E3-3BD7-997F-521B7E690395}"/>
              </a:ext>
            </a:extLst>
          </p:cNvPr>
          <p:cNvCxnSpPr>
            <a:cxnSpLocks/>
          </p:cNvCxnSpPr>
          <p:nvPr/>
        </p:nvCxnSpPr>
        <p:spPr>
          <a:xfrm>
            <a:off x="9976885" y="2376175"/>
            <a:ext cx="0" cy="431117"/>
          </a:xfrm>
          <a:prstGeom prst="line">
            <a:avLst/>
          </a:prstGeom>
          <a:ln w="38100">
            <a:solidFill>
              <a:srgbClr val="D0E4C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BAA57558-C195-30AD-B85A-4A2078EB633A}"/>
              </a:ext>
            </a:extLst>
          </p:cNvPr>
          <p:cNvSpPr/>
          <p:nvPr/>
        </p:nvSpPr>
        <p:spPr>
          <a:xfrm>
            <a:off x="9913764" y="2772649"/>
            <a:ext cx="123190" cy="123190"/>
          </a:xfrm>
          <a:prstGeom prst="ellipse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3DCD65C-A465-0133-7B70-854E3DE2FB35}"/>
              </a:ext>
            </a:extLst>
          </p:cNvPr>
          <p:cNvSpPr/>
          <p:nvPr/>
        </p:nvSpPr>
        <p:spPr>
          <a:xfrm>
            <a:off x="245519" y="2799713"/>
            <a:ext cx="2805305" cy="1337382"/>
          </a:xfrm>
          <a:prstGeom prst="rect">
            <a:avLst/>
          </a:prstGeom>
          <a:solidFill>
            <a:srgbClr val="DDE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思源黑体 Medium" panose="020B0600000000000000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B12DAA8-FEC1-4CAA-5ADA-4107C62B480D}"/>
              </a:ext>
            </a:extLst>
          </p:cNvPr>
          <p:cNvSpPr/>
          <p:nvPr/>
        </p:nvSpPr>
        <p:spPr>
          <a:xfrm>
            <a:off x="779174" y="4812983"/>
            <a:ext cx="4060282" cy="1034165"/>
          </a:xfrm>
          <a:prstGeom prst="rect">
            <a:avLst/>
          </a:prstGeom>
          <a:solidFill>
            <a:srgbClr val="A9D18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9D18E"/>
              </a:solidFill>
              <a:cs typeface="思源黑体 Medium" panose="020B0600000000000000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67C37C5-DF29-0320-70D3-16F7D88711BD}"/>
              </a:ext>
            </a:extLst>
          </p:cNvPr>
          <p:cNvSpPr/>
          <p:nvPr/>
        </p:nvSpPr>
        <p:spPr>
          <a:xfrm>
            <a:off x="3583577" y="2873526"/>
            <a:ext cx="2982463" cy="1502188"/>
          </a:xfrm>
          <a:prstGeom prst="rect">
            <a:avLst/>
          </a:prstGeom>
          <a:solidFill>
            <a:srgbClr val="DDE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D4E2219-3D3B-6654-ABA8-08460F6A5E1D}"/>
              </a:ext>
            </a:extLst>
          </p:cNvPr>
          <p:cNvSpPr/>
          <p:nvPr/>
        </p:nvSpPr>
        <p:spPr>
          <a:xfrm>
            <a:off x="4726364" y="82386"/>
            <a:ext cx="4085405" cy="1168876"/>
          </a:xfrm>
          <a:prstGeom prst="rect">
            <a:avLst/>
          </a:prstGeom>
          <a:solidFill>
            <a:srgbClr val="A9D18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9D18E"/>
              </a:solidFill>
              <a:cs typeface="思源黑体 Medium" panose="020B0600000000000000" charset="-122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816620C-615C-A1E7-4906-31E456A728BF}"/>
              </a:ext>
            </a:extLst>
          </p:cNvPr>
          <p:cNvSpPr/>
          <p:nvPr/>
        </p:nvSpPr>
        <p:spPr>
          <a:xfrm>
            <a:off x="5759339" y="4917088"/>
            <a:ext cx="5348689" cy="95410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9D18E"/>
              </a:solidFill>
              <a:cs typeface="思源黑体 Medium" panose="020B0600000000000000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0C797CA-07DC-3784-BDFA-7C129B2C909C}"/>
              </a:ext>
            </a:extLst>
          </p:cNvPr>
          <p:cNvSpPr/>
          <p:nvPr/>
        </p:nvSpPr>
        <p:spPr>
          <a:xfrm>
            <a:off x="8611555" y="2830399"/>
            <a:ext cx="3533222" cy="1302067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9D18E"/>
              </a:solidFill>
              <a:cs typeface="思源黑体 Medium" panose="020B0600000000000000" charset="-122"/>
            </a:endParaRPr>
          </a:p>
        </p:txBody>
      </p:sp>
      <p:sp>
        <p:nvSpPr>
          <p:cNvPr id="95" name="圆角矩形 21">
            <a:extLst>
              <a:ext uri="{FF2B5EF4-FFF2-40B4-BE49-F238E27FC236}">
                <a16:creationId xmlns:a16="http://schemas.microsoft.com/office/drawing/2014/main" id="{061C7B29-FB63-0E14-DC95-28BA095343EF}"/>
              </a:ext>
            </a:extLst>
          </p:cNvPr>
          <p:cNvSpPr/>
          <p:nvPr/>
        </p:nvSpPr>
        <p:spPr>
          <a:xfrm>
            <a:off x="6721251" y="3811346"/>
            <a:ext cx="1823085" cy="626746"/>
          </a:xfrm>
          <a:prstGeom prst="roundRect">
            <a:avLst>
              <a:gd name="adj" fmla="val 50000"/>
            </a:avLst>
          </a:prstGeom>
          <a:noFill/>
          <a:ln w="63500">
            <a:solidFill>
              <a:srgbClr val="ACCB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Medium"/>
              <a:ea typeface="思源黑体 Medium"/>
              <a:cs typeface="思源黑体 Medium" panose="020B0600000000000000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18C70B1C-158D-9B45-4397-4A9A1B07461D}"/>
              </a:ext>
            </a:extLst>
          </p:cNvPr>
          <p:cNvCxnSpPr>
            <a:cxnSpLocks/>
          </p:cNvCxnSpPr>
          <p:nvPr/>
        </p:nvCxnSpPr>
        <p:spPr>
          <a:xfrm flipV="1">
            <a:off x="7632793" y="4430380"/>
            <a:ext cx="5569" cy="402805"/>
          </a:xfrm>
          <a:prstGeom prst="line">
            <a:avLst/>
          </a:prstGeom>
          <a:ln w="38100">
            <a:solidFill>
              <a:srgbClr val="ACCB9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5DAD5AE-1C5A-D3F0-AE4F-B240D70C7ACF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6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20" name="箭头: 左 19">
            <a:extLst>
              <a:ext uri="{FF2B5EF4-FFF2-40B4-BE49-F238E27FC236}">
                <a16:creationId xmlns:a16="http://schemas.microsoft.com/office/drawing/2014/main" id="{F2682FE3-7723-0258-4FD9-1AC474B87BCE}"/>
              </a:ext>
            </a:extLst>
          </p:cNvPr>
          <p:cNvSpPr/>
          <p:nvPr/>
        </p:nvSpPr>
        <p:spPr>
          <a:xfrm rot="19897498">
            <a:off x="8415615" y="1367431"/>
            <a:ext cx="902392" cy="289938"/>
          </a:xfrm>
          <a:prstGeom prst="leftArrow">
            <a:avLst/>
          </a:prstGeom>
          <a:solidFill>
            <a:srgbClr val="A9D1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DAAEE83-A326-10CE-752C-3C78FFE59E5A}"/>
              </a:ext>
            </a:extLst>
          </p:cNvPr>
          <p:cNvSpPr/>
          <p:nvPr/>
        </p:nvSpPr>
        <p:spPr>
          <a:xfrm>
            <a:off x="9281775" y="483617"/>
            <a:ext cx="2443578" cy="953037"/>
          </a:xfrm>
          <a:prstGeom prst="ellipse">
            <a:avLst/>
          </a:prstGeom>
          <a:solidFill>
            <a:srgbClr val="A9D1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Current Stage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7065383-0712-FEC7-8167-4B29E915C711}"/>
              </a:ext>
            </a:extLst>
          </p:cNvPr>
          <p:cNvSpPr txBox="1"/>
          <p:nvPr/>
        </p:nvSpPr>
        <p:spPr>
          <a:xfrm>
            <a:off x="207846" y="2916442"/>
            <a:ext cx="281181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Minute-level accelerometry data collected for each individual.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activity counts recorded every minute across multiple study days.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55289D0-8617-1D7F-8323-C49D0237C1D6}"/>
                  </a:ext>
                </a:extLst>
              </p:cNvPr>
              <p:cNvSpPr txBox="1"/>
              <p:nvPr/>
            </p:nvSpPr>
            <p:spPr>
              <a:xfrm>
                <a:off x="792796" y="4868213"/>
                <a:ext cx="422996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/>
                </a:lvl1pPr>
              </a:lstStyle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Activity time series for a given individual-day.</a:t>
                </a:r>
              </a:p>
              <a:p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individual and study day, activity counts are represented as a time series </a:t>
                </a:r>
                <a14:m>
                  <m:oMath xmlns:m="http://schemas.openxmlformats.org/officeDocument/2006/math">
                    <m:r>
                      <a:rPr lang="zh-CN" altLang="en-US" sz="1400" i="1"/>
                      <m:t>𝑉𝑀</m:t>
                    </m:r>
                    <m:d>
                      <m:dPr>
                        <m:ctrlPr>
                          <a:rPr lang="ar-AE" altLang="zh-CN" sz="1400" i="1"/>
                        </m:ctrlPr>
                      </m:dPr>
                      <m:e>
                        <m:r>
                          <a:rPr lang="zh-CN" altLang="ar-AE" sz="1400" i="1"/>
                          <m:t>𝑡</m:t>
                        </m:r>
                      </m:e>
                    </m:d>
                    <m:r>
                      <a:rPr lang="ar-AE" altLang="zh-CN" sz="1400"/>
                      <m:t>,</m:t>
                    </m:r>
                    <m:r>
                      <m:rPr>
                        <m:nor/>
                      </m:rPr>
                      <a:rPr lang="ar-AE" altLang="zh-CN" sz="14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  </m:t>
                    </m:r>
                    <m:r>
                      <a:rPr lang="zh-CN" altLang="ar-AE" sz="1400" i="1"/>
                      <m:t>𝑡</m:t>
                    </m:r>
                    <m:r>
                      <a:rPr lang="ar-AE" altLang="zh-CN" sz="1400"/>
                      <m:t>=</m:t>
                    </m:r>
                    <m:r>
                      <a:rPr lang="ar-AE" altLang="zh-CN" sz="1400"/>
                      <m:t>1</m:t>
                    </m:r>
                    <m:r>
                      <a:rPr lang="ar-AE" altLang="zh-CN" sz="1400"/>
                      <m:t>,…,</m:t>
                    </m:r>
                    <m:r>
                      <a:rPr lang="ar-AE" altLang="zh-CN" sz="1400"/>
                      <m:t>1440</m:t>
                    </m:r>
                  </m:oMath>
                </a14:m>
                <a:r>
                  <a:rPr lang="ar-AE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55289D0-8617-1D7F-8323-C49D0237C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96" y="4868213"/>
                <a:ext cx="4229965" cy="954107"/>
              </a:xfrm>
              <a:prstGeom prst="rect">
                <a:avLst/>
              </a:prstGeom>
              <a:blipFill>
                <a:blip r:embed="rId4"/>
                <a:stretch>
                  <a:fillRect l="-432" t="-1282" b="-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CAD20A95-0EC2-F478-5F45-DEC3B735A3E1}"/>
              </a:ext>
            </a:extLst>
          </p:cNvPr>
          <p:cNvSpPr txBox="1"/>
          <p:nvPr/>
        </p:nvSpPr>
        <p:spPr>
          <a:xfrm>
            <a:off x="3591303" y="2927378"/>
            <a:ext cx="301266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Time Curve summarizing activity intensity distribution.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OTC captures the proportion of time the activity level exceeds a given threshold, discarding temporal ordering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99850C4-B53A-5D5A-5FA5-D6756E63D6DE}"/>
              </a:ext>
            </a:extLst>
          </p:cNvPr>
          <p:cNvSpPr txBox="1"/>
          <p:nvPr/>
        </p:nvSpPr>
        <p:spPr>
          <a:xfrm>
            <a:off x="4726364" y="144257"/>
            <a:ext cx="40854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summary of the OTC.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area under the OTC provides a low-dimensional summary of overall activity intensity.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AC31CF-B7AF-FF8F-2617-B81797F6C5DF}"/>
              </a:ext>
            </a:extLst>
          </p:cNvPr>
          <p:cNvSpPr txBox="1"/>
          <p:nvPr/>
        </p:nvSpPr>
        <p:spPr>
          <a:xfrm>
            <a:off x="5732252" y="4996523"/>
            <a:ext cx="61110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variable selection via L0-regularized optimization.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Mixed-integer optimization is used to identify important activity features.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A963A49-5FAB-217F-C0D9-EB1863F317F8}"/>
              </a:ext>
            </a:extLst>
          </p:cNvPr>
          <p:cNvSpPr txBox="1"/>
          <p:nvPr/>
        </p:nvSpPr>
        <p:spPr>
          <a:xfrm>
            <a:off x="8553516" y="2892075"/>
            <a:ext cx="36881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Structure-aware regression on functional summaries.</a:t>
            </a:r>
          </a:p>
          <a:p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Fused lasso encourages sparsity and smoothness across adjacent features.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4CE9B75-EDED-1AF5-DBA3-61AF6C6E3F2A}"/>
              </a:ext>
            </a:extLst>
          </p:cNvPr>
          <p:cNvSpPr/>
          <p:nvPr/>
        </p:nvSpPr>
        <p:spPr>
          <a:xfrm>
            <a:off x="3492501" y="398970"/>
            <a:ext cx="7062894" cy="1478750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98B72E5-3245-B705-96D3-4AAE8F42EDDB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0825BD-5533-E04B-E0FE-34099175799B}"/>
              </a:ext>
            </a:extLst>
          </p:cNvPr>
          <p:cNvSpPr txBox="1"/>
          <p:nvPr/>
        </p:nvSpPr>
        <p:spPr>
          <a:xfrm>
            <a:off x="829945" y="175673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3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Step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8" name="圆角矩形 8">
            <a:extLst>
              <a:ext uri="{FF2B5EF4-FFF2-40B4-BE49-F238E27FC236}">
                <a16:creationId xmlns:a16="http://schemas.microsoft.com/office/drawing/2014/main" id="{69B31DD1-DB8A-728D-B474-90811EBA320F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VM(t)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1355E3F-2090-785D-F5E6-7141B5A5C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37" y="1521074"/>
            <a:ext cx="3056340" cy="199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A08A7E7-C34A-8BA9-2DB2-8C399CEB8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91" y="3807864"/>
            <a:ext cx="3056340" cy="199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 descr="图表&#10;&#10;AI 生成的内容可能不正确。">
            <a:extLst>
              <a:ext uri="{FF2B5EF4-FFF2-40B4-BE49-F238E27FC236}">
                <a16:creationId xmlns:a16="http://schemas.microsoft.com/office/drawing/2014/main" id="{92A8C49D-91A1-EAF6-45EE-BB8F89B193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509" y="2086505"/>
            <a:ext cx="4398643" cy="34427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CD6851E-3E3C-3ED1-F036-AF7C60A90465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7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BFE776-21F3-6EE1-ADF1-7852D92EBA53}"/>
              </a:ext>
            </a:extLst>
          </p:cNvPr>
          <p:cNvSpPr txBox="1"/>
          <p:nvPr/>
        </p:nvSpPr>
        <p:spPr>
          <a:xfrm>
            <a:off x="3534179" y="417501"/>
            <a:ext cx="6777193" cy="140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Vector Magnitude time series,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VM(t): minute-level activity count at time 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plots on the left show activity within individual days, while the plot on the right combines multiple days into a single continuous timeline.</a:t>
            </a:r>
            <a:endParaRPr lang="zh-CN" altLang="zh-CN" sz="1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9E8E7A-E06B-4ADE-F27F-425517948C9D}"/>
              </a:ext>
            </a:extLst>
          </p:cNvPr>
          <p:cNvSpPr txBox="1"/>
          <p:nvPr/>
        </p:nvSpPr>
        <p:spPr>
          <a:xfrm>
            <a:off x="7757584" y="2860489"/>
            <a:ext cx="3891357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263E40-D1AA-649E-BB9A-CFD1EF4DF05B}"/>
              </a:ext>
            </a:extLst>
          </p:cNvPr>
          <p:cNvSpPr txBox="1"/>
          <p:nvPr/>
        </p:nvSpPr>
        <p:spPr>
          <a:xfrm>
            <a:off x="7757584" y="2886321"/>
            <a:ext cx="2114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Why did this?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F491A2-CAA9-8D0C-E2E8-9C22DD3FA155}"/>
              </a:ext>
            </a:extLst>
          </p:cNvPr>
          <p:cNvSpPr txBox="1"/>
          <p:nvPr/>
        </p:nvSpPr>
        <p:spPr>
          <a:xfrm>
            <a:off x="7757584" y="3554077"/>
            <a:ext cx="3717450" cy="112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Raw </a:t>
            </a:r>
            <a:r>
              <a:rPr lang="en-US" altLang="zh-CN" sz="1600" kern="1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1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ata: single continuous time axis.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This step: time re-indexing.</a:t>
            </a:r>
            <a:endParaRPr lang="zh-CN" altLang="en-US" sz="1600" dirty="0">
              <a:solidFill>
                <a:schemeClr val="bg1"/>
              </a:solidFill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altLang="zh-CN" sz="1600" kern="100" dirty="0">
              <a:solidFill>
                <a:schemeClr val="bg1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0B9F5A3-0AB3-46C2-5CA3-01886E374B8D}"/>
              </a:ext>
            </a:extLst>
          </p:cNvPr>
          <p:cNvSpPr txBox="1"/>
          <p:nvPr/>
        </p:nvSpPr>
        <p:spPr>
          <a:xfrm>
            <a:off x="7931639" y="3606606"/>
            <a:ext cx="4043967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4542D2BA-69ED-04F7-470D-7EFBF7452D68}"/>
              </a:ext>
            </a:extLst>
          </p:cNvPr>
          <p:cNvSpPr/>
          <p:nvPr/>
        </p:nvSpPr>
        <p:spPr>
          <a:xfrm>
            <a:off x="3518405" y="234950"/>
            <a:ext cx="5284305" cy="1564782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84165E-7D04-D571-201B-466D5184750D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CDE0F8-6433-A2B8-1D15-FEAD67718CD7}"/>
              </a:ext>
            </a:extLst>
          </p:cNvPr>
          <p:cNvSpPr txBox="1"/>
          <p:nvPr/>
        </p:nvSpPr>
        <p:spPr>
          <a:xfrm>
            <a:off x="829945" y="175673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3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Step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5A6B5AD-6AA9-42CA-E8A8-73AE614857A0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Transform to OTC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6E4386D-D5E0-7858-68D3-94C8740C6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6" y="1471638"/>
            <a:ext cx="2948514" cy="192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C4B3E940-652A-A0D1-2F67-F723F437B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7" y="3884600"/>
            <a:ext cx="3001805" cy="196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4C6E947C-C3B6-F73F-15FD-BC155E5344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120" y="1982612"/>
            <a:ext cx="4744907" cy="351874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C217047-B587-1D87-688F-D0599AC59696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8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2006826-DA41-9BB9-01B4-0B7FB0DFDF9A}"/>
                  </a:ext>
                </a:extLst>
              </p:cNvPr>
              <p:cNvSpPr txBox="1"/>
              <p:nvPr/>
            </p:nvSpPr>
            <p:spPr>
              <a:xfrm>
                <a:off x="3560084" y="254502"/>
                <a:ext cx="5155188" cy="1407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altLang="zh-CN" sz="1600" kern="100" dirty="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From minute-level activity time series: </a:t>
                </a:r>
                <a:endParaRPr lang="en-US" altLang="zh-CN" sz="1600" b="1" i="1" kern="100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𝑽𝑴</m:t>
                    </m:r>
                    <m:d>
                      <m:dPr>
                        <m:ctrlPr>
                          <a:rPr lang="en-US" altLang="zh-CN" sz="1600" b="1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600" b="1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600" b="1" i="1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en-US" altLang="zh-CN" sz="1600" kern="100" dirty="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altLang="zh-CN" sz="1600" kern="100" dirty="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to a distributional summary: Occupation Time Curve (OTC): </a:t>
                </a:r>
                <a14:m>
                  <m:oMath xmlns:m="http://schemas.openxmlformats.org/officeDocument/2006/math"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𝑶𝑻𝑪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𝑽𝑴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)≥</m:t>
                    </m:r>
                    <m:r>
                      <a:rPr lang="en-US" altLang="zh-CN" sz="1600" b="1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altLang="zh-CN" sz="1600" b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zh-CN" altLang="zh-CN" sz="1600" kern="100" dirty="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2006826-DA41-9BB9-01B4-0B7FB0DFD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084" y="254502"/>
                <a:ext cx="5155188" cy="1407437"/>
              </a:xfrm>
              <a:prstGeom prst="rect">
                <a:avLst/>
              </a:prstGeom>
              <a:blipFill>
                <a:blip r:embed="rId7"/>
                <a:stretch>
                  <a:fillRect l="-591" r="-1418" b="-2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2693305E-05E5-35A7-0DD1-3BEDC9045431}"/>
              </a:ext>
            </a:extLst>
          </p:cNvPr>
          <p:cNvSpPr txBox="1"/>
          <p:nvPr/>
        </p:nvSpPr>
        <p:spPr>
          <a:xfrm>
            <a:off x="7939825" y="2860489"/>
            <a:ext cx="4043967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8D323E-35D0-5907-B580-A84F157F8029}"/>
              </a:ext>
            </a:extLst>
          </p:cNvPr>
          <p:cNvSpPr txBox="1"/>
          <p:nvPr/>
        </p:nvSpPr>
        <p:spPr>
          <a:xfrm>
            <a:off x="7939825" y="2886011"/>
            <a:ext cx="201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Why did this?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888ED1-2112-718D-084F-83D61983D079}"/>
              </a:ext>
            </a:extLst>
          </p:cNvPr>
          <p:cNvSpPr txBox="1"/>
          <p:nvPr/>
        </p:nvSpPr>
        <p:spPr>
          <a:xfrm>
            <a:off x="7939825" y="3429001"/>
            <a:ext cx="39473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The (OTC) intentionally ignores the temporal ordering of VM(t).</a:t>
            </a:r>
          </a:p>
          <a:p>
            <a:endParaRPr lang="en-US" altLang="zh-CN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Focuses on a single question: Over the entire observation period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等线" panose="02010600030101010101" pitchFamily="2" charset="-122"/>
              </a:rPr>
              <a:t>, what proportion of time does an individual spend at or above a given activity intensity level?</a:t>
            </a:r>
          </a:p>
          <a:p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66B4-47EB-7B1F-4A27-81FAAEE0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D679E6B-1C72-931C-FAE7-99B406FEFF07}"/>
              </a:ext>
            </a:extLst>
          </p:cNvPr>
          <p:cNvSpPr/>
          <p:nvPr/>
        </p:nvSpPr>
        <p:spPr>
          <a:xfrm>
            <a:off x="312420" y="593407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BBE8CF-3CAF-B59A-C9EA-4042C805FF7E}"/>
              </a:ext>
            </a:extLst>
          </p:cNvPr>
          <p:cNvSpPr txBox="1"/>
          <p:nvPr/>
        </p:nvSpPr>
        <p:spPr>
          <a:xfrm>
            <a:off x="609917" y="4027389"/>
            <a:ext cx="8780708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94B970-2354-B2D2-28F8-34538F137136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66CB2C7-2553-38CA-38A7-1E00429425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9D27B87-2133-1C5B-C657-75DFA529B3CE}"/>
              </a:ext>
            </a:extLst>
          </p:cNvPr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2BB819-A872-B706-3F2E-BA8750D2E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0C13030-AF12-D6A7-BEB8-476136C17E86}"/>
              </a:ext>
            </a:extLst>
          </p:cNvPr>
          <p:cNvSpPr txBox="1"/>
          <p:nvPr/>
        </p:nvSpPr>
        <p:spPr>
          <a:xfrm>
            <a:off x="829945" y="175673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3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Step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A09DB4D-CC07-FE15-4A2F-C3E53BEFEBCF}"/>
              </a:ext>
            </a:extLst>
          </p:cNvPr>
          <p:cNvSpPr/>
          <p:nvPr/>
        </p:nvSpPr>
        <p:spPr>
          <a:xfrm>
            <a:off x="475843" y="494048"/>
            <a:ext cx="2233143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Establish AUC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F919FD-6BA2-EF10-5A9A-CF4397E682E7}"/>
              </a:ext>
            </a:extLst>
          </p:cNvPr>
          <p:cNvSpPr txBox="1"/>
          <p:nvPr/>
        </p:nvSpPr>
        <p:spPr>
          <a:xfrm>
            <a:off x="11454298" y="6476368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9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4E91D5-1BF8-05E3-2FB0-FF8D97E4F36C}"/>
              </a:ext>
            </a:extLst>
          </p:cNvPr>
          <p:cNvSpPr txBox="1"/>
          <p:nvPr/>
        </p:nvSpPr>
        <p:spPr>
          <a:xfrm>
            <a:off x="646514" y="4411085"/>
            <a:ext cx="874411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splitting the OTC into shaded areas, we convert a curve into a set of numerical features.</a:t>
            </a: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OTC provides a stable functional summary.</a:t>
            </a: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 converts it into a model-ready representation.</a:t>
            </a:r>
            <a:endParaRPr lang="zh-CN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7150F2-8486-7367-CA42-025F1DE15764}"/>
              </a:ext>
            </a:extLst>
          </p:cNvPr>
          <p:cNvSpPr txBox="1"/>
          <p:nvPr/>
        </p:nvSpPr>
        <p:spPr>
          <a:xfrm>
            <a:off x="609917" y="3949420"/>
            <a:ext cx="2013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Why did this?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19566C2D-A92F-83D2-D5D1-86F0C0218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" y="1167629"/>
            <a:ext cx="4514045" cy="2721764"/>
          </a:xfrm>
          <a:prstGeom prst="rect">
            <a:avLst/>
          </a:prstGeom>
        </p:spPr>
      </p:pic>
      <p:sp>
        <p:nvSpPr>
          <p:cNvPr id="17" name="圆角矩形 8">
            <a:extLst>
              <a:ext uri="{FF2B5EF4-FFF2-40B4-BE49-F238E27FC236}">
                <a16:creationId xmlns:a16="http://schemas.microsoft.com/office/drawing/2014/main" id="{2C668405-D9AA-6D73-08D8-CE94991696C1}"/>
              </a:ext>
            </a:extLst>
          </p:cNvPr>
          <p:cNvSpPr/>
          <p:nvPr/>
        </p:nvSpPr>
        <p:spPr>
          <a:xfrm>
            <a:off x="4912417" y="726134"/>
            <a:ext cx="7286885" cy="3060255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2247637-1565-E9CC-1154-74596BFE153F}"/>
                  </a:ext>
                </a:extLst>
              </p:cNvPr>
              <p:cNvSpPr txBox="1"/>
              <p:nvPr/>
            </p:nvSpPr>
            <p:spPr>
              <a:xfrm>
                <a:off x="4981972" y="1024094"/>
                <a:ext cx="6820138" cy="2816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partition the activity intensity axis into intervals: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0=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0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&lt;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&lt;⋯&lt;</m:t>
                    </m:r>
                    <m:sSub>
                      <m:sSubPr>
                        <m:ctrlPr>
                          <a:rPr lang="zh-CN" altLang="zh-CN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𝑐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𝐽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define, for each interval,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𝑗</m:t>
                        </m:r>
                      </m:sub>
                    </m:sSub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zh-CN" sz="1600" i="1">
                            <a:solidFill>
                              <a:schemeClr val="bg1"/>
                            </a:solidFill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00" i="1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</a:rPr>
                              <m:t>𝑗</m:t>
                            </m:r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</a:rPr>
                              <m:t>−1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zh-CN" sz="1600" i="1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bg1"/>
                                </a:solidFill>
                              </a:rPr>
                              <m:t>𝑗</m:t>
                            </m:r>
                          </m:sub>
                        </m:sSub>
                      </m:sup>
                      <m:e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𝑂𝑇𝐶</m:t>
                        </m:r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(</m:t>
                        </m:r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𝑐</m:t>
                        </m:r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sz="160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𝑑𝑐</m:t>
                        </m:r>
                        <m:r>
                          <a:rPr lang="en-US" altLang="zh-CN" sz="1600" i="1">
                            <a:solidFill>
                              <a:schemeClr val="bg1"/>
                            </a:solidFill>
                          </a:rPr>
                          <m:t>,</m:t>
                        </m:r>
                      </m:e>
                    </m:nary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𝑗</m:t>
                    </m:r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=1,…,</m:t>
                    </m:r>
                    <m:r>
                      <a:rPr lang="en-US" altLang="zh-CN" sz="1600" i="1">
                        <a:solidFill>
                          <a:schemeClr val="bg1"/>
                        </a:solidFill>
                      </a:rPr>
                      <m:t>𝐽</m:t>
                    </m:r>
                  </m:oMath>
                </a14:m>
                <a:r>
                  <a:rPr lang="en-US" altLang="zh-CN" sz="1600" i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to use AUC: </a:t>
                </a:r>
                <a:endParaRPr lang="zh-CN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𝑌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BMI of subject 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𝑖</m:t>
                    </m:r>
                  </m:oMath>
                </a14:m>
                <a:endParaRPr lang="zh-CN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Covariates (from activity data):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00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𝑖</m:t>
                            </m:r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600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𝑖</m:t>
                            </m:r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1600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𝑖𝐽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𝐴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AUC for subject 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𝑖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intensity interval 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𝑗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fit the 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𝑌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=</m:t>
                    </m:r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𝛽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0</m:t>
                        </m:r>
                      </m:sub>
                    </m:sSub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naryPr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𝑗</m:t>
                        </m:r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𝐽</m:t>
                        </m:r>
                      </m:sup>
                      <m:e>
                        <m:sSub>
                          <m:sSubPr>
                            <m:ctrlPr>
                              <a:rPr lang="zh-CN" altLang="zh-CN" sz="1600">
                                <a:solidFill>
                                  <a:schemeClr val="bg1"/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CN" sz="1600">
                                <a:solidFill>
                                  <a:schemeClr val="bg1"/>
                                </a:solidFill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𝐴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𝑖𝑗</m:t>
                        </m:r>
                      </m:sub>
                    </m:sSub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+</m:t>
                    </m:r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𝜀</m:t>
                        </m:r>
                      </m:e>
                      <m:sub>
                        <m: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zh-CN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j</m:t>
                        </m:r>
                      </m:sub>
                    </m:sSub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&gt;0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Spending more time in intensity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bg1"/>
                        </a:solidFill>
                      </a:rPr>
                      <m:t>j</m:t>
                    </m:r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 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associated with higher BMI.</a:t>
                </a:r>
                <a:endParaRPr lang="zh-CN" altLang="zh-CN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>
                            <a:solidFill>
                              <a:schemeClr val="bg1"/>
                            </a:solidFill>
                          </a:rPr>
                          <m:t>j</m:t>
                        </m:r>
                      </m:sub>
                    </m:sSub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&lt;0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Spending more time in intensity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solidFill>
                          <a:schemeClr val="bg1"/>
                        </a:solidFill>
                      </a:rPr>
                      <m:t>j</m:t>
                    </m:r>
                    <m:r>
                      <a:rPr lang="en-US" altLang="zh-CN" sz="1600">
                        <a:solidFill>
                          <a:schemeClr val="bg1"/>
                        </a:solidFill>
                      </a:rPr>
                      <m:t> </m:t>
                    </m:r>
                  </m:oMath>
                </a14:m>
                <a:r>
                  <a:rPr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associated with lower BMI</a:t>
                </a:r>
                <a:br>
                  <a:rPr lang="en-US" altLang="zh-CN" dirty="0"/>
                </a:br>
                <a:endParaRPr lang="zh-CN" alt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22247637-1565-E9CC-1154-74596BFE1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972" y="1024094"/>
                <a:ext cx="6820138" cy="2816605"/>
              </a:xfrm>
              <a:prstGeom prst="rect">
                <a:avLst/>
              </a:prstGeom>
              <a:blipFill>
                <a:blip r:embed="rId5"/>
                <a:stretch>
                  <a:fillRect l="-447" t="-6494" r="-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142611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D7A7-7D08-10AE-2FBA-D9AB861DC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0E88198-70BA-AA56-E58D-05839C03A19D}"/>
              </a:ext>
            </a:extLst>
          </p:cNvPr>
          <p:cNvSpPr/>
          <p:nvPr/>
        </p:nvSpPr>
        <p:spPr>
          <a:xfrm>
            <a:off x="312420" y="5857844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687724-6E9B-147F-3187-D29A24E259F1}"/>
              </a:ext>
            </a:extLst>
          </p:cNvPr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4" name="圆角矩形 8">
            <a:extLst>
              <a:ext uri="{FF2B5EF4-FFF2-40B4-BE49-F238E27FC236}">
                <a16:creationId xmlns:a16="http://schemas.microsoft.com/office/drawing/2014/main" id="{07839FD2-6D95-C20B-0F24-380870552D84}"/>
              </a:ext>
            </a:extLst>
          </p:cNvPr>
          <p:cNvSpPr/>
          <p:nvPr/>
        </p:nvSpPr>
        <p:spPr>
          <a:xfrm>
            <a:off x="3985269" y="524644"/>
            <a:ext cx="6710635" cy="513760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0E9140-1E28-CC91-5BDD-394B0F86145B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CCA148-6579-8E12-7F46-EF0718EB55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2D917A-1DFF-C878-6949-D3B18F574B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9EF6AAB-216A-1CDC-F159-31DE9E8EFACA}"/>
              </a:ext>
            </a:extLst>
          </p:cNvPr>
          <p:cNvSpPr txBox="1"/>
          <p:nvPr/>
        </p:nvSpPr>
        <p:spPr>
          <a:xfrm>
            <a:off x="829945" y="175673"/>
            <a:ext cx="19207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3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Step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36A6298-2277-B6DF-5865-1AA308D3B1CC}"/>
              </a:ext>
            </a:extLst>
          </p:cNvPr>
          <p:cNvSpPr/>
          <p:nvPr/>
        </p:nvSpPr>
        <p:spPr>
          <a:xfrm>
            <a:off x="475843" y="494048"/>
            <a:ext cx="3194636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Diagnostics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35FFD753-3835-0F8E-22C5-14DC128D6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0" y="1192808"/>
            <a:ext cx="4936933" cy="3222045"/>
          </a:xfrm>
          <a:prstGeom prst="rect">
            <a:avLst/>
          </a:prstGeom>
        </p:spPr>
      </p:pic>
      <p:pic>
        <p:nvPicPr>
          <p:cNvPr id="15" name="图片 14" descr="背景图案&#10;&#10;AI 生成的内容可能不正确。">
            <a:extLst>
              <a:ext uri="{FF2B5EF4-FFF2-40B4-BE49-F238E27FC236}">
                <a16:creationId xmlns:a16="http://schemas.microsoft.com/office/drawing/2014/main" id="{760C38F9-926E-C910-44D7-C1567A3FC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876" y="1067381"/>
            <a:ext cx="5526132" cy="317515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52DC46B-39FA-9221-CD0E-75F63D25454F}"/>
              </a:ext>
            </a:extLst>
          </p:cNvPr>
          <p:cNvSpPr txBox="1"/>
          <p:nvPr/>
        </p:nvSpPr>
        <p:spPr>
          <a:xfrm>
            <a:off x="11359008" y="648938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10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682C7A-DC76-838C-4628-0425A70496F2}"/>
              </a:ext>
            </a:extLst>
          </p:cNvPr>
          <p:cNvSpPr txBox="1"/>
          <p:nvPr/>
        </p:nvSpPr>
        <p:spPr>
          <a:xfrm>
            <a:off x="3985269" y="546477"/>
            <a:ext cx="8230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 we check how similar the AUC features are to each other.</a:t>
            </a: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5A6B5D-2906-9A4D-0E67-2F7EE127360C}"/>
              </a:ext>
            </a:extLst>
          </p:cNvPr>
          <p:cNvSpPr txBox="1"/>
          <p:nvPr/>
        </p:nvSpPr>
        <p:spPr>
          <a:xfrm>
            <a:off x="2318196" y="4505459"/>
            <a:ext cx="8230342" cy="18947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spc="200" dirty="0">
                <a:solidFill>
                  <a:schemeClr val="bg1"/>
                </a:solidFill>
                <a:uFillTx/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rPr>
              <a:t>  </a:t>
            </a: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spc="200" dirty="0">
              <a:solidFill>
                <a:schemeClr val="bg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spc="200" dirty="0">
              <a:solidFill>
                <a:schemeClr val="bg1"/>
              </a:solidFill>
              <a:uFillTx/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DFEB21-FA56-B3DE-9BCF-0EAFA7451E0E}"/>
              </a:ext>
            </a:extLst>
          </p:cNvPr>
          <p:cNvSpPr txBox="1"/>
          <p:nvPr/>
        </p:nvSpPr>
        <p:spPr>
          <a:xfrm>
            <a:off x="2318196" y="4714169"/>
            <a:ext cx="8230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alone is not sufficient justification to apply fused lasso or standard regression at this stage.</a:t>
            </a:r>
          </a:p>
          <a:p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L0 regularization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controls how many features are selected, and 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mixed-integer optimization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solve this selection problem exactly.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64810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67"/>
          <a:stretch>
            <a:fillRect/>
          </a:stretch>
        </p:blipFill>
        <p:spPr>
          <a:xfrm rot="10800000" flipH="1">
            <a:off x="9592945" y="0"/>
            <a:ext cx="2599055" cy="13125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5400000" flipV="1">
            <a:off x="10206355" y="-614045"/>
            <a:ext cx="1379220" cy="260667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68" r="49889" b="437"/>
          <a:stretch>
            <a:fillRect/>
          </a:stretch>
        </p:blipFill>
        <p:spPr>
          <a:xfrm>
            <a:off x="0" y="6120765"/>
            <a:ext cx="3436620" cy="7372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2420" y="5937885"/>
            <a:ext cx="3124200" cy="92392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E09C84-410F-8DFE-5485-EE1100507A89}"/>
              </a:ext>
            </a:extLst>
          </p:cNvPr>
          <p:cNvSpPr txBox="1"/>
          <p:nvPr/>
        </p:nvSpPr>
        <p:spPr>
          <a:xfrm>
            <a:off x="829945" y="175673"/>
            <a:ext cx="2125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Part 4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Future Arrange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A0B1E4-6345-B5D2-6E75-9CB0EB547878}"/>
              </a:ext>
            </a:extLst>
          </p:cNvPr>
          <p:cNvSpPr/>
          <p:nvPr/>
        </p:nvSpPr>
        <p:spPr>
          <a:xfrm>
            <a:off x="389890" y="234950"/>
            <a:ext cx="440055" cy="85471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13" name="圆角矩形 8">
            <a:extLst>
              <a:ext uri="{FF2B5EF4-FFF2-40B4-BE49-F238E27FC236}">
                <a16:creationId xmlns:a16="http://schemas.microsoft.com/office/drawing/2014/main" id="{E4ED09FA-990E-5035-11B8-CC473687B636}"/>
              </a:ext>
            </a:extLst>
          </p:cNvPr>
          <p:cNvSpPr/>
          <p:nvPr/>
        </p:nvSpPr>
        <p:spPr>
          <a:xfrm>
            <a:off x="475843" y="494048"/>
            <a:ext cx="2750315" cy="464173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 for next steps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78DBE2-8EE4-607D-F43A-E526A1A07CDC}"/>
              </a:ext>
            </a:extLst>
          </p:cNvPr>
          <p:cNvSpPr txBox="1"/>
          <p:nvPr/>
        </p:nvSpPr>
        <p:spPr>
          <a:xfrm>
            <a:off x="11359008" y="648938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11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B26F32D-1A9E-8AE0-6073-BCBA9AA09990}"/>
              </a:ext>
            </a:extLst>
          </p:cNvPr>
          <p:cNvGrpSpPr/>
          <p:nvPr/>
        </p:nvGrpSpPr>
        <p:grpSpPr>
          <a:xfrm>
            <a:off x="1463538" y="1765674"/>
            <a:ext cx="557530" cy="557530"/>
            <a:chOff x="5587" y="2603"/>
            <a:chExt cx="878" cy="878"/>
          </a:xfrm>
          <a:solidFill>
            <a:srgbClr val="ACCB9F"/>
          </a:solidFill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CA94B59-E90C-18D2-6BC0-DD9BD1641F64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38391A7-F59F-F784-B042-E28A667A94B7}"/>
                </a:ext>
              </a:extLst>
            </p:cNvPr>
            <p:cNvSpPr txBox="1"/>
            <p:nvPr/>
          </p:nvSpPr>
          <p:spPr>
            <a:xfrm>
              <a:off x="5746" y="2679"/>
              <a:ext cx="562" cy="72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1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30957DA-F69C-AABB-55FA-2B95163AB179}"/>
              </a:ext>
            </a:extLst>
          </p:cNvPr>
          <p:cNvGrpSpPr/>
          <p:nvPr/>
        </p:nvGrpSpPr>
        <p:grpSpPr>
          <a:xfrm>
            <a:off x="1463534" y="3333031"/>
            <a:ext cx="558165" cy="558165"/>
            <a:chOff x="5587" y="2603"/>
            <a:chExt cx="879" cy="879"/>
          </a:xfrm>
          <a:solidFill>
            <a:srgbClr val="ACCB9F"/>
          </a:solidFill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9C62E44-1D6F-897F-E4D6-A86258F20D6E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B35C2F9-A7D0-B104-1F24-6ED91FF68A49}"/>
                </a:ext>
              </a:extLst>
            </p:cNvPr>
            <p:cNvSpPr txBox="1"/>
            <p:nvPr/>
          </p:nvSpPr>
          <p:spPr>
            <a:xfrm>
              <a:off x="5746" y="2679"/>
              <a:ext cx="576" cy="72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2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B0D32CE-C77F-9C0E-D3AC-DC17D3709514}"/>
              </a:ext>
            </a:extLst>
          </p:cNvPr>
          <p:cNvGrpSpPr/>
          <p:nvPr/>
        </p:nvGrpSpPr>
        <p:grpSpPr>
          <a:xfrm>
            <a:off x="1463535" y="4762277"/>
            <a:ext cx="558165" cy="558165"/>
            <a:chOff x="5587" y="2603"/>
            <a:chExt cx="879" cy="879"/>
          </a:xfrm>
          <a:solidFill>
            <a:srgbClr val="ACCB9F"/>
          </a:solidFill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2DF2C05-0829-4FB6-3A0B-D70C40E99B06}"/>
                </a:ext>
              </a:extLst>
            </p:cNvPr>
            <p:cNvSpPr/>
            <p:nvPr/>
          </p:nvSpPr>
          <p:spPr>
            <a:xfrm>
              <a:off x="5587" y="2603"/>
              <a:ext cx="879" cy="8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BFE6F36-3909-6D4E-B76A-115C05CC39AB}"/>
                </a:ext>
              </a:extLst>
            </p:cNvPr>
            <p:cNvSpPr txBox="1"/>
            <p:nvPr/>
          </p:nvSpPr>
          <p:spPr>
            <a:xfrm>
              <a:off x="5746" y="2679"/>
              <a:ext cx="576" cy="72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思源黑体 Medium"/>
                  <a:ea typeface="思源黑体 Medium"/>
                  <a:cs typeface="思源黑体 Medium" panose="020B0600000000000000" charset="-122"/>
                </a:rPr>
                <a:t>3</a:t>
              </a:r>
            </a:p>
          </p:txBody>
        </p:sp>
      </p:grpSp>
      <p:sp>
        <p:nvSpPr>
          <p:cNvPr id="24" name="圆角矩形 8">
            <a:extLst>
              <a:ext uri="{FF2B5EF4-FFF2-40B4-BE49-F238E27FC236}">
                <a16:creationId xmlns:a16="http://schemas.microsoft.com/office/drawing/2014/main" id="{A78CED63-B088-3975-C33D-77114626008C}"/>
              </a:ext>
            </a:extLst>
          </p:cNvPr>
          <p:cNvSpPr/>
          <p:nvPr/>
        </p:nvSpPr>
        <p:spPr>
          <a:xfrm>
            <a:off x="2243805" y="1638001"/>
            <a:ext cx="7415349" cy="923924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 appropriate outcome variable (Y)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25" name="圆角矩形 8">
            <a:extLst>
              <a:ext uri="{FF2B5EF4-FFF2-40B4-BE49-F238E27FC236}">
                <a16:creationId xmlns:a16="http://schemas.microsoft.com/office/drawing/2014/main" id="{BACC5AAC-AC1B-4CE2-8992-CD408D540CC6}"/>
              </a:ext>
            </a:extLst>
          </p:cNvPr>
          <p:cNvSpPr/>
          <p:nvPr/>
        </p:nvSpPr>
        <p:spPr>
          <a:xfrm>
            <a:off x="2243803" y="3052046"/>
            <a:ext cx="7415349" cy="923924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L0 + MIO for feature selection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26" name="圆角矩形 8">
            <a:extLst>
              <a:ext uri="{FF2B5EF4-FFF2-40B4-BE49-F238E27FC236}">
                <a16:creationId xmlns:a16="http://schemas.microsoft.com/office/drawing/2014/main" id="{C71696C1-0F57-6EDE-4323-3914B001A9D2}"/>
              </a:ext>
            </a:extLst>
          </p:cNvPr>
          <p:cNvSpPr/>
          <p:nvPr/>
        </p:nvSpPr>
        <p:spPr>
          <a:xfrm>
            <a:off x="2243803" y="4589795"/>
            <a:ext cx="7415349" cy="923924"/>
          </a:xfrm>
          <a:prstGeom prst="roundRect">
            <a:avLst/>
          </a:prstGeom>
          <a:solidFill>
            <a:srgbClr val="ACC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and interpret selected features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红色奢华年会背景-光波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lum bright="-6000"/>
          </a:blip>
          <a:stretch>
            <a:fillRect/>
          </a:stretch>
        </p:blipFill>
        <p:spPr>
          <a:xfrm>
            <a:off x="1905" y="0"/>
            <a:ext cx="12190095" cy="6857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83640" y="1406525"/>
            <a:ext cx="1771015" cy="2615565"/>
          </a:xfrm>
          <a:prstGeom prst="rect">
            <a:avLst/>
          </a:prstGeom>
          <a:solidFill>
            <a:srgbClr val="DDE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Medium" panose="020B06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99615" y="1799590"/>
            <a:ext cx="639699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4800">
                <a:latin typeface="思源黑体 Bold" panose="020B0800000000000000" charset="-122"/>
                <a:ea typeface="思源黑体 Bold" panose="020B0800000000000000" charset="-122"/>
                <a:cs typeface="思源黑体 Medium" panose="020B0600000000000000" charset="-122"/>
              </a:rPr>
              <a:t>Thanks For Listening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56260" y="303530"/>
            <a:ext cx="833120" cy="405130"/>
            <a:chOff x="8094" y="1125"/>
            <a:chExt cx="3012" cy="1465"/>
          </a:xfrm>
        </p:grpSpPr>
        <p:sp>
          <p:nvSpPr>
            <p:cNvPr id="11" name="任意多边形 10"/>
            <p:cNvSpPr/>
            <p:nvPr/>
          </p:nvSpPr>
          <p:spPr>
            <a:xfrm>
              <a:off x="8094" y="1125"/>
              <a:ext cx="3012" cy="761"/>
            </a:xfrm>
            <a:custGeom>
              <a:avLst/>
              <a:gdLst>
                <a:gd name="ir" fmla="*/ w 3 4"/>
                <a:gd name="ib" fmla="*/ h 3 4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12" h="640">
                  <a:moveTo>
                    <a:pt x="1506" y="0"/>
                  </a:moveTo>
                  <a:lnTo>
                    <a:pt x="3012" y="438"/>
                  </a:lnTo>
                  <a:lnTo>
                    <a:pt x="2319" y="640"/>
                  </a:lnTo>
                  <a:lnTo>
                    <a:pt x="2319" y="571"/>
                  </a:lnTo>
                  <a:cubicBezTo>
                    <a:pt x="2319" y="513"/>
                    <a:pt x="1955" y="467"/>
                    <a:pt x="1507" y="467"/>
                  </a:cubicBezTo>
                  <a:cubicBezTo>
                    <a:pt x="1058" y="467"/>
                    <a:pt x="694" y="513"/>
                    <a:pt x="694" y="571"/>
                  </a:cubicBezTo>
                  <a:lnTo>
                    <a:pt x="694" y="640"/>
                  </a:lnTo>
                  <a:lnTo>
                    <a:pt x="0" y="438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sp>
          <p:nvSpPr>
            <p:cNvPr id="12" name="圆柱形 11"/>
            <p:cNvSpPr/>
            <p:nvPr/>
          </p:nvSpPr>
          <p:spPr>
            <a:xfrm rot="10800000">
              <a:off x="8855" y="1761"/>
              <a:ext cx="1489" cy="829"/>
            </a:xfrm>
            <a:prstGeom prst="can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Medium" panose="020B0600000000000000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358" y="1761"/>
              <a:ext cx="156" cy="807"/>
              <a:chOff x="8358" y="1761"/>
              <a:chExt cx="156" cy="807"/>
            </a:xfrm>
          </p:grpSpPr>
          <p:cxnSp>
            <p:nvCxnSpPr>
              <p:cNvPr id="14" name="直接连接符 13"/>
              <p:cNvCxnSpPr>
                <a:endCxn id="24" idx="4"/>
              </p:cNvCxnSpPr>
              <p:nvPr/>
            </p:nvCxnSpPr>
            <p:spPr>
              <a:xfrm flipH="1">
                <a:off x="8436" y="1761"/>
                <a:ext cx="0" cy="578"/>
              </a:xfrm>
              <a:prstGeom prst="line">
                <a:avLst/>
              </a:prstGeom>
              <a:ln w="19050" cap="rnd">
                <a:solidFill>
                  <a:srgbClr val="ACCB9F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组合 14"/>
              <p:cNvGrpSpPr/>
              <p:nvPr/>
            </p:nvGrpSpPr>
            <p:grpSpPr>
              <a:xfrm>
                <a:off x="8358" y="2183"/>
                <a:ext cx="156" cy="385"/>
                <a:chOff x="8358" y="2357"/>
                <a:chExt cx="156" cy="385"/>
              </a:xfrm>
            </p:grpSpPr>
            <p:sp>
              <p:nvSpPr>
                <p:cNvPr id="24" name="椭圆 23"/>
                <p:cNvSpPr/>
                <p:nvPr/>
              </p:nvSpPr>
              <p:spPr>
                <a:xfrm>
                  <a:off x="8358" y="2357"/>
                  <a:ext cx="156" cy="156"/>
                </a:xfrm>
                <a:prstGeom prst="ellipse">
                  <a:avLst/>
                </a:prstGeom>
                <a:solidFill>
                  <a:srgbClr val="ACCB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Medium" panose="020B0600000000000000" charset="-122"/>
                  </a:endParaRPr>
                </a:p>
              </p:txBody>
            </p:sp>
            <p:sp>
              <p:nvSpPr>
                <p:cNvPr id="31" name="梯形 30"/>
                <p:cNvSpPr/>
                <p:nvPr/>
              </p:nvSpPr>
              <p:spPr>
                <a:xfrm>
                  <a:off x="8376" y="2482"/>
                  <a:ext cx="119" cy="260"/>
                </a:xfrm>
                <a:prstGeom prst="trapezoid">
                  <a:avLst/>
                </a:prstGeom>
                <a:solidFill>
                  <a:srgbClr val="ACCB9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思源黑体 Medium" panose="020B0600000000000000" charset="-122"/>
                  </a:endParaRPr>
                </a:p>
              </p:txBody>
            </p:sp>
          </p:grp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1856DA6-3DEE-C45E-4F1F-F9F58A3EC05E}"/>
              </a:ext>
            </a:extLst>
          </p:cNvPr>
          <p:cNvGrpSpPr/>
          <p:nvPr/>
        </p:nvGrpSpPr>
        <p:grpSpPr>
          <a:xfrm>
            <a:off x="1151460" y="4266565"/>
            <a:ext cx="2976219" cy="369570"/>
            <a:chOff x="5514" y="7147"/>
            <a:chExt cx="3795" cy="58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2587F7B-0CC0-F7F5-FCCD-76A42315722F}"/>
                </a:ext>
              </a:extLst>
            </p:cNvPr>
            <p:cNvSpPr/>
            <p:nvPr/>
          </p:nvSpPr>
          <p:spPr>
            <a:xfrm>
              <a:off x="5601" y="7147"/>
              <a:ext cx="3644" cy="582"/>
            </a:xfrm>
            <a:prstGeom prst="rect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49C4519-0AAC-881F-3742-9C99FEC57BE0}"/>
                </a:ext>
              </a:extLst>
            </p:cNvPr>
            <p:cNvSpPr txBox="1"/>
            <p:nvPr/>
          </p:nvSpPr>
          <p:spPr>
            <a:xfrm>
              <a:off x="5514" y="7196"/>
              <a:ext cx="3795" cy="5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Presenter</a:t>
              </a:r>
              <a:r>
                <a:rPr lang="zh-CN" altLang="en-US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：</a:t>
              </a:r>
              <a:r>
                <a:rPr lang="en-US" altLang="zh-CN" sz="1500" spc="200" dirty="0">
                  <a:solidFill>
                    <a:schemeClr val="bg1"/>
                  </a:solidFill>
                  <a:uFillTx/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Xiankai Yang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0551FC5-1CC8-0204-6E81-997CCC33F997}"/>
              </a:ext>
            </a:extLst>
          </p:cNvPr>
          <p:cNvGrpSpPr/>
          <p:nvPr/>
        </p:nvGrpSpPr>
        <p:grpSpPr>
          <a:xfrm>
            <a:off x="1213881" y="4763135"/>
            <a:ext cx="3757364" cy="579120"/>
            <a:chOff x="10159" y="7135"/>
            <a:chExt cx="3195" cy="91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B0CD43C-CAC5-3E54-5F8F-0FF67BDDE9D1}"/>
                </a:ext>
              </a:extLst>
            </p:cNvPr>
            <p:cNvSpPr/>
            <p:nvPr/>
          </p:nvSpPr>
          <p:spPr>
            <a:xfrm>
              <a:off x="10159" y="7135"/>
              <a:ext cx="3195" cy="582"/>
            </a:xfrm>
            <a:prstGeom prst="rect">
              <a:avLst/>
            </a:prstGeom>
            <a:solidFill>
              <a:srgbClr val="ACC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Medium"/>
                <a:ea typeface="思源黑体 Medium"/>
                <a:cs typeface="思源黑体 Medium" panose="020B0600000000000000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90ACE84-026B-A0A5-B1A1-69E37D8F3792}"/>
                </a:ext>
              </a:extLst>
            </p:cNvPr>
            <p:cNvSpPr txBox="1"/>
            <p:nvPr/>
          </p:nvSpPr>
          <p:spPr>
            <a:xfrm>
              <a:off x="10159" y="7175"/>
              <a:ext cx="3118" cy="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Instructor</a:t>
              </a:r>
              <a:r>
                <a:rPr lang="zh-CN" altLang="en-US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：</a:t>
              </a:r>
              <a:r>
                <a:rPr lang="en-US" altLang="zh-CN" sz="1500" spc="2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黑体 Medium"/>
                  <a:cs typeface="Times New Roman" panose="02020603050405020304" pitchFamily="18" charset="0"/>
                </a:rPr>
                <a:t>Osvaldo Espin Garcia</a:t>
              </a:r>
            </a:p>
            <a:p>
              <a:pPr algn="ctr"/>
              <a:endParaRPr lang="en-US" altLang="zh-CN" sz="1500" spc="200" dirty="0">
                <a:solidFill>
                  <a:schemeClr val="bg1"/>
                </a:solidFill>
                <a:latin typeface="Times New Roman" panose="02020603050405020304" pitchFamily="18" charset="0"/>
                <a:ea typeface="思源黑体 Medium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83D4FA-FC68-F73A-1396-E0049B07DC57}"/>
              </a:ext>
            </a:extLst>
          </p:cNvPr>
          <p:cNvSpPr txBox="1"/>
          <p:nvPr/>
        </p:nvSpPr>
        <p:spPr>
          <a:xfrm>
            <a:off x="1433012" y="38745"/>
            <a:ext cx="36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of Toronto</a:t>
            </a:r>
            <a:endParaRPr lang="zh-CN" alt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ea typeface="思源黑体 Medium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851EC4-0120-7536-1E52-D3C8AAF14121}"/>
              </a:ext>
            </a:extLst>
          </p:cNvPr>
          <p:cNvSpPr txBox="1"/>
          <p:nvPr/>
        </p:nvSpPr>
        <p:spPr>
          <a:xfrm>
            <a:off x="1433012" y="429806"/>
            <a:ext cx="6159320" cy="37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altLang="zh-CN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DALLA Lana School of Public Health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2677CD-EC0D-9D0F-529D-205259B57CC3}"/>
              </a:ext>
            </a:extLst>
          </p:cNvPr>
          <p:cNvSpPr txBox="1"/>
          <p:nvPr/>
        </p:nvSpPr>
        <p:spPr>
          <a:xfrm>
            <a:off x="11359008" y="6489382"/>
            <a:ext cx="8402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思源黑体 Bold" panose="020B0800000000000000" charset="-122"/>
                <a:cs typeface="Times New Roman" panose="02020603050405020304" pitchFamily="18" charset="0"/>
              </a:rPr>
              <a:t>Page 12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12"/>
  <p:tag name="AS_OS" val="Microsoft Windows NT 10.0.19045.0"/>
  <p:tag name="AS_RELEASE_DATE" val="2025.01.14"/>
  <p:tag name="AS_TITLE" val="Aspose.Slides for .NET6"/>
  <p:tag name="AS_VERSION" val="25.1"/>
  <p:tag name="OPCH-522F2AB7D8F7FF7586CE5DF716D213254AA183499B24DFEBCAF21BA9A9CB65AB" val="[{&quot;GradientColorId&quot;:&quot;&quot;,&quot;IsFree&quot;:true,&quot;IsGradient&quot;:false,&quot;ImagePath&quot;:&quot;&quot;,&quot;GradientColor&quot;:null,&quot;SimpleColor&quot;:&quot;#FF0000&quot;},{&quot;GradientColorId&quot;:&quot;&quot;,&quot;IsFree&quot;:true,&quot;IsGradient&quot;:false,&quot;ImagePath&quot;:&quot;&quot;,&quot;GradientColor&quot;:null,&quot;SimpleColor&quot;:&quot;#FFFF00&quot;},{&quot;GradientColorId&quot;:&quot;&quot;,&quot;IsFree&quot;:true,&quot;IsGradient&quot;:false,&quot;ImagePath&quot;:&quot;&quot;,&quot;GradientColor&quot;:null,&quot;SimpleColor&quot;:&quot;#92D050&quot;},{&quot;GradientColorId&quot;:&quot;&quot;,&quot;IsFree&quot;:true,&quot;IsGradient&quot;:false,&quot;ImagePath&quot;:&quot;&quot;,&quot;GradientColor&quot;:null,&quot;SimpleColor&quot;:&quot;#A9D18E&quot;},{&quot;GradientColorId&quot;:&quot;&quot;,&quot;IsFree&quot;:true,&quot;IsGradient&quot;:false,&quot;ImagePath&quot;:&quot;&quot;,&quot;GradientColor&quot;:null,&quot;SimpleColor&quot;:&quot;#C5E0B4&quot;},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Medium"/>
        <a:ea typeface="思源黑体 Medium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Medium"/>
        <a:ea typeface="思源黑体 Medium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思源黑体 Medium"/>
        <a:font script="Hebr" typeface="思源黑体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Medium"/>
        <a:ea typeface="思源黑体 Medium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思源黑体 Medium"/>
        <a:font script="Hebr" typeface="思源黑体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Medium"/>
        <a:ea typeface="思源黑体 Medium"/>
        <a:cs typeface="Arial"/>
        <a:font script="Jpan" typeface="ＭＳ Ｐゴシック"/>
        <a:font script="Hang" typeface="맑은 고딕"/>
        <a:font script="Hans" typeface="思源黑体 Medium"/>
        <a:font script="Hant" typeface="新細明體"/>
        <a:font script="Arab" typeface="思源黑体 Medium"/>
        <a:font script="Hebr" typeface="思源黑体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9828</TotalTime>
  <Words>856</Words>
  <Application>Microsoft Office PowerPoint</Application>
  <PresentationFormat>宽屏</PresentationFormat>
  <Paragraphs>172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思源黑体 Bold</vt:lpstr>
      <vt:lpstr>思源黑体 Medium</vt:lpstr>
      <vt:lpstr>Arial</vt:lpstr>
      <vt:lpstr>Cambria Math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Xiankai Yang</cp:lastModifiedBy>
  <cp:revision>42</cp:revision>
  <dcterms:created xsi:type="dcterms:W3CDTF">2022-04-25T01:29:00Z</dcterms:created>
  <dcterms:modified xsi:type="dcterms:W3CDTF">2026-01-21T19:21:09Z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ondata">
    <vt:lpwstr>eyJoZGlkIjoiY2NmY2Y0NzUxNjM1YTBkODBjZjVkNjEzZDczZTAzZDkifQ==</vt:lpwstr>
  </property>
  <property fmtid="{D5CDD505-2E9C-101B-9397-08002B2CF9AE}" pid="3" name="ICV">
    <vt:lpwstr>72EBAE38F97B4A55890C54BF6F3D6759</vt:lpwstr>
  </property>
  <property fmtid="{D5CDD505-2E9C-101B-9397-08002B2CF9AE}" pid="4" name="KSOProductBuildVer">
    <vt:lpwstr>2052-11.1.0.11636</vt:lpwstr>
  </property>
</Properties>
</file>